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91" r:id="rId3"/>
    <p:sldId id="304" r:id="rId4"/>
    <p:sldId id="305" r:id="rId5"/>
    <p:sldId id="307" r:id="rId6"/>
    <p:sldId id="309" r:id="rId7"/>
    <p:sldId id="311" r:id="rId8"/>
    <p:sldId id="312" r:id="rId9"/>
    <p:sldId id="299" r:id="rId10"/>
    <p:sldId id="300" r:id="rId11"/>
    <p:sldId id="314" r:id="rId12"/>
    <p:sldId id="315" r:id="rId13"/>
    <p:sldId id="30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439D02-6919-41BF-B871-5363383433E3}"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212BA-BB15-466D-9F05-67AF7EF82E87}"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68CF483-9D90-4CC1-AA07-0A5B7B6D0F7E}" type="datetime1">
              <a:rPr lang="en-IN" smtClean="0"/>
            </a:fld>
            <a:endParaRPr lang="en-IN"/>
          </a:p>
        </p:txBody>
      </p:sp>
      <p:sp>
        <p:nvSpPr>
          <p:cNvPr id="5" name="Footer Placeholder 4"/>
          <p:cNvSpPr>
            <a:spLocks noGrp="1"/>
          </p:cNvSpPr>
          <p:nvPr>
            <p:ph type="ftr" sz="quarter" idx="11"/>
          </p:nvPr>
        </p:nvSpPr>
        <p:spPr/>
        <p:txBody>
          <a:bodyPr/>
          <a:lstStyle/>
          <a:p>
            <a:r>
              <a:rPr lang="en-US"/>
              <a:t>Mini Project Topic Approval </a:t>
            </a:r>
            <a:endParaRPr lang="en-IN"/>
          </a:p>
        </p:txBody>
      </p:sp>
      <p:sp>
        <p:nvSpPr>
          <p:cNvPr id="6" name="Slide Number Placeholder 5"/>
          <p:cNvSpPr>
            <a:spLocks noGrp="1"/>
          </p:cNvSpPr>
          <p:nvPr>
            <p:ph type="sldNum" sz="quarter" idx="12"/>
          </p:nvPr>
        </p:nvSpPr>
        <p:spPr/>
        <p:txBody>
          <a:bodyPr/>
          <a:lstStyle/>
          <a:p>
            <a:fld id="{54A0433F-D463-4C6D-93BB-5B095B314A64}"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935C6B44-FC28-4FF5-8167-897E276FDAF9}" type="datetime1">
              <a:rPr lang="en-IN" smtClean="0"/>
            </a:fld>
            <a:endParaRPr lang="en-IN"/>
          </a:p>
        </p:txBody>
      </p:sp>
      <p:sp>
        <p:nvSpPr>
          <p:cNvPr id="5" name="Footer Placeholder 4"/>
          <p:cNvSpPr>
            <a:spLocks noGrp="1"/>
          </p:cNvSpPr>
          <p:nvPr>
            <p:ph type="ftr" sz="quarter" idx="11"/>
          </p:nvPr>
        </p:nvSpPr>
        <p:spPr/>
        <p:txBody>
          <a:bodyPr/>
          <a:lstStyle/>
          <a:p>
            <a:r>
              <a:rPr lang="en-US"/>
              <a:t>Mini Project Topic Approval </a:t>
            </a:r>
            <a:endParaRPr lang="en-IN"/>
          </a:p>
        </p:txBody>
      </p:sp>
      <p:sp>
        <p:nvSpPr>
          <p:cNvPr id="6" name="Slide Number Placeholder 5"/>
          <p:cNvSpPr>
            <a:spLocks noGrp="1"/>
          </p:cNvSpPr>
          <p:nvPr>
            <p:ph type="sldNum" sz="quarter" idx="12"/>
          </p:nvPr>
        </p:nvSpPr>
        <p:spPr/>
        <p:txBody>
          <a:bodyPr/>
          <a:lstStyle/>
          <a:p>
            <a:fld id="{54A0433F-D463-4C6D-93BB-5B095B314A64}"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9B036CD-FACC-43EF-A6F0-5443BE5D4FE4}" type="datetime1">
              <a:rPr lang="en-IN" smtClean="0"/>
            </a:fld>
            <a:endParaRPr lang="en-IN"/>
          </a:p>
        </p:txBody>
      </p:sp>
      <p:sp>
        <p:nvSpPr>
          <p:cNvPr id="5" name="Footer Placeholder 4"/>
          <p:cNvSpPr>
            <a:spLocks noGrp="1"/>
          </p:cNvSpPr>
          <p:nvPr>
            <p:ph type="ftr" sz="quarter" idx="11"/>
          </p:nvPr>
        </p:nvSpPr>
        <p:spPr/>
        <p:txBody>
          <a:bodyPr/>
          <a:lstStyle/>
          <a:p>
            <a:r>
              <a:rPr lang="en-US"/>
              <a:t>Mini Project Topic Approval </a:t>
            </a:r>
            <a:endParaRPr lang="en-IN"/>
          </a:p>
        </p:txBody>
      </p:sp>
      <p:sp>
        <p:nvSpPr>
          <p:cNvPr id="6" name="Slide Number Placeholder 5"/>
          <p:cNvSpPr>
            <a:spLocks noGrp="1"/>
          </p:cNvSpPr>
          <p:nvPr>
            <p:ph type="sldNum" sz="quarter" idx="12"/>
          </p:nvPr>
        </p:nvSpPr>
        <p:spPr/>
        <p:txBody>
          <a:bodyPr/>
          <a:lstStyle/>
          <a:p>
            <a:fld id="{54A0433F-D463-4C6D-93BB-5B095B314A64}"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1AA4305D-FBAB-4039-A4E8-1792FCD752DF}" type="datetime1">
              <a:rPr lang="en-IN" smtClean="0"/>
            </a:fld>
            <a:endParaRPr lang="en-IN"/>
          </a:p>
        </p:txBody>
      </p:sp>
      <p:sp>
        <p:nvSpPr>
          <p:cNvPr id="6" name="Footer Placeholder 5"/>
          <p:cNvSpPr>
            <a:spLocks noGrp="1"/>
          </p:cNvSpPr>
          <p:nvPr>
            <p:ph type="ftr" sz="quarter" idx="11"/>
          </p:nvPr>
        </p:nvSpPr>
        <p:spPr/>
        <p:txBody>
          <a:bodyPr/>
          <a:lstStyle/>
          <a:p>
            <a:r>
              <a:rPr lang="en-US"/>
              <a:t>Mini Project Topic Approval </a:t>
            </a:r>
            <a:endParaRPr lang="en-IN"/>
          </a:p>
        </p:txBody>
      </p:sp>
      <p:sp>
        <p:nvSpPr>
          <p:cNvPr id="7" name="Slide Number Placeholder 6"/>
          <p:cNvSpPr>
            <a:spLocks noGrp="1"/>
          </p:cNvSpPr>
          <p:nvPr>
            <p:ph type="sldNum" sz="quarter" idx="12"/>
          </p:nvPr>
        </p:nvSpPr>
        <p:spPr/>
        <p:txBody>
          <a:bodyPr/>
          <a:lstStyle/>
          <a:p>
            <a:fld id="{54A0433F-D463-4C6D-93BB-5B095B314A64}"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2E203505-3C81-4353-93DF-80231C8E08D0}" type="datetime1">
              <a:rPr lang="en-IN" smtClean="0"/>
            </a:fld>
            <a:endParaRPr lang="en-IN"/>
          </a:p>
        </p:txBody>
      </p:sp>
      <p:sp>
        <p:nvSpPr>
          <p:cNvPr id="8" name="Footer Placeholder 7"/>
          <p:cNvSpPr>
            <a:spLocks noGrp="1"/>
          </p:cNvSpPr>
          <p:nvPr>
            <p:ph type="ftr" sz="quarter" idx="11"/>
          </p:nvPr>
        </p:nvSpPr>
        <p:spPr/>
        <p:txBody>
          <a:bodyPr/>
          <a:lstStyle/>
          <a:p>
            <a:r>
              <a:rPr lang="en-US"/>
              <a:t>Mini Project Topic Approval </a:t>
            </a:r>
            <a:endParaRPr lang="en-IN"/>
          </a:p>
        </p:txBody>
      </p:sp>
      <p:sp>
        <p:nvSpPr>
          <p:cNvPr id="9" name="Slide Number Placeholder 8"/>
          <p:cNvSpPr>
            <a:spLocks noGrp="1"/>
          </p:cNvSpPr>
          <p:nvPr>
            <p:ph type="sldNum" sz="quarter" idx="12"/>
          </p:nvPr>
        </p:nvSpPr>
        <p:spPr/>
        <p:txBody>
          <a:bodyPr/>
          <a:lstStyle/>
          <a:p>
            <a:fld id="{54A0433F-D463-4C6D-93BB-5B095B314A64}"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D7D809C-FF0E-4556-B797-04E45A1A8B92}" type="datetime1">
              <a:rPr lang="en-IN" smtClean="0"/>
            </a:fld>
            <a:endParaRPr lang="en-IN"/>
          </a:p>
        </p:txBody>
      </p:sp>
      <p:sp>
        <p:nvSpPr>
          <p:cNvPr id="4" name="Footer Placeholder 3"/>
          <p:cNvSpPr>
            <a:spLocks noGrp="1"/>
          </p:cNvSpPr>
          <p:nvPr>
            <p:ph type="ftr" sz="quarter" idx="11"/>
          </p:nvPr>
        </p:nvSpPr>
        <p:spPr/>
        <p:txBody>
          <a:bodyPr/>
          <a:lstStyle/>
          <a:p>
            <a:r>
              <a:rPr lang="en-US"/>
              <a:t>Mini Project Topic Approval </a:t>
            </a:r>
            <a:endParaRPr lang="en-IN"/>
          </a:p>
        </p:txBody>
      </p:sp>
      <p:sp>
        <p:nvSpPr>
          <p:cNvPr id="5" name="Slide Number Placeholder 4"/>
          <p:cNvSpPr>
            <a:spLocks noGrp="1"/>
          </p:cNvSpPr>
          <p:nvPr>
            <p:ph type="sldNum" sz="quarter" idx="12"/>
          </p:nvPr>
        </p:nvSpPr>
        <p:spPr/>
        <p:txBody>
          <a:bodyPr/>
          <a:lstStyle/>
          <a:p>
            <a:fld id="{54A0433F-D463-4C6D-93BB-5B095B314A64}"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FD06F8-874C-462A-8E65-66A4D3611B32}" type="datetime1">
              <a:rPr lang="en-IN" smtClean="0"/>
            </a:fld>
            <a:endParaRPr lang="en-IN"/>
          </a:p>
        </p:txBody>
      </p:sp>
      <p:sp>
        <p:nvSpPr>
          <p:cNvPr id="3" name="Footer Placeholder 2"/>
          <p:cNvSpPr>
            <a:spLocks noGrp="1"/>
          </p:cNvSpPr>
          <p:nvPr>
            <p:ph type="ftr" sz="quarter" idx="11"/>
          </p:nvPr>
        </p:nvSpPr>
        <p:spPr/>
        <p:txBody>
          <a:bodyPr/>
          <a:lstStyle/>
          <a:p>
            <a:r>
              <a:rPr lang="en-US"/>
              <a:t>Mini Project Topic Approval </a:t>
            </a:r>
            <a:endParaRPr lang="en-IN"/>
          </a:p>
        </p:txBody>
      </p:sp>
      <p:sp>
        <p:nvSpPr>
          <p:cNvPr id="4" name="Slide Number Placeholder 3"/>
          <p:cNvSpPr>
            <a:spLocks noGrp="1"/>
          </p:cNvSpPr>
          <p:nvPr>
            <p:ph type="sldNum" sz="quarter" idx="12"/>
          </p:nvPr>
        </p:nvSpPr>
        <p:spPr/>
        <p:txBody>
          <a:bodyPr/>
          <a:lstStyle/>
          <a:p>
            <a:fld id="{54A0433F-D463-4C6D-93BB-5B095B314A64}"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3D8E19C-C4A8-4EF9-B6B6-565FC1EBDB34}" type="datetime1">
              <a:rPr lang="en-IN" smtClean="0"/>
            </a:fld>
            <a:endParaRPr lang="en-IN"/>
          </a:p>
        </p:txBody>
      </p:sp>
      <p:sp>
        <p:nvSpPr>
          <p:cNvPr id="6" name="Footer Placeholder 5"/>
          <p:cNvSpPr>
            <a:spLocks noGrp="1"/>
          </p:cNvSpPr>
          <p:nvPr>
            <p:ph type="ftr" sz="quarter" idx="11"/>
          </p:nvPr>
        </p:nvSpPr>
        <p:spPr/>
        <p:txBody>
          <a:bodyPr/>
          <a:lstStyle/>
          <a:p>
            <a:r>
              <a:rPr lang="en-US"/>
              <a:t>Mini Project Topic Approval </a:t>
            </a:r>
            <a:endParaRPr lang="en-IN"/>
          </a:p>
        </p:txBody>
      </p:sp>
      <p:sp>
        <p:nvSpPr>
          <p:cNvPr id="7" name="Slide Number Placeholder 6"/>
          <p:cNvSpPr>
            <a:spLocks noGrp="1"/>
          </p:cNvSpPr>
          <p:nvPr>
            <p:ph type="sldNum" sz="quarter" idx="12"/>
          </p:nvPr>
        </p:nvSpPr>
        <p:spPr/>
        <p:txBody>
          <a:bodyPr/>
          <a:lstStyle/>
          <a:p>
            <a:fld id="{54A0433F-D463-4C6D-93BB-5B095B314A64}"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8F27378-A834-435E-B07B-1A6BC177DEF9}" type="datetime1">
              <a:rPr lang="en-IN" smtClean="0"/>
            </a:fld>
            <a:endParaRPr lang="en-IN"/>
          </a:p>
        </p:txBody>
      </p:sp>
      <p:sp>
        <p:nvSpPr>
          <p:cNvPr id="6" name="Footer Placeholder 5"/>
          <p:cNvSpPr>
            <a:spLocks noGrp="1"/>
          </p:cNvSpPr>
          <p:nvPr>
            <p:ph type="ftr" sz="quarter" idx="11"/>
          </p:nvPr>
        </p:nvSpPr>
        <p:spPr/>
        <p:txBody>
          <a:bodyPr/>
          <a:lstStyle/>
          <a:p>
            <a:r>
              <a:rPr lang="en-US"/>
              <a:t>Mini Project Topic Approval </a:t>
            </a:r>
            <a:endParaRPr lang="en-IN"/>
          </a:p>
        </p:txBody>
      </p:sp>
      <p:sp>
        <p:nvSpPr>
          <p:cNvPr id="7" name="Slide Number Placeholder 6"/>
          <p:cNvSpPr>
            <a:spLocks noGrp="1"/>
          </p:cNvSpPr>
          <p:nvPr>
            <p:ph type="sldNum" sz="quarter" idx="12"/>
          </p:nvPr>
        </p:nvSpPr>
        <p:spPr/>
        <p:txBody>
          <a:bodyPr/>
          <a:lstStyle/>
          <a:p>
            <a:fld id="{54A0433F-D463-4C6D-93BB-5B095B314A64}"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FBD3B8C7-EFC3-4BBB-B850-D4B6288CEB87}" type="datetime1">
              <a:rPr lang="en-IN" smtClean="0"/>
            </a:fld>
            <a:endParaRPr lang="en-IN"/>
          </a:p>
        </p:txBody>
      </p:sp>
      <p:sp>
        <p:nvSpPr>
          <p:cNvPr id="5" name="Footer Placeholder 4"/>
          <p:cNvSpPr>
            <a:spLocks noGrp="1"/>
          </p:cNvSpPr>
          <p:nvPr>
            <p:ph type="ftr" sz="quarter" idx="11"/>
          </p:nvPr>
        </p:nvSpPr>
        <p:spPr/>
        <p:txBody>
          <a:bodyPr/>
          <a:lstStyle/>
          <a:p>
            <a:r>
              <a:rPr lang="en-US"/>
              <a:t>Mini Project Topic Approval </a:t>
            </a:r>
            <a:endParaRPr lang="en-IN"/>
          </a:p>
        </p:txBody>
      </p:sp>
      <p:sp>
        <p:nvSpPr>
          <p:cNvPr id="6" name="Slide Number Placeholder 5"/>
          <p:cNvSpPr>
            <a:spLocks noGrp="1"/>
          </p:cNvSpPr>
          <p:nvPr>
            <p:ph type="sldNum" sz="quarter" idx="12"/>
          </p:nvPr>
        </p:nvSpPr>
        <p:spPr/>
        <p:txBody>
          <a:bodyPr/>
          <a:lstStyle/>
          <a:p>
            <a:fld id="{54A0433F-D463-4C6D-93BB-5B095B314A64}"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6873A85C-DEF1-4983-8B84-A07C6D0B4CA0}" type="datetime1">
              <a:rPr lang="en-IN" smtClean="0"/>
            </a:fld>
            <a:endParaRPr lang="en-IN"/>
          </a:p>
        </p:txBody>
      </p:sp>
      <p:sp>
        <p:nvSpPr>
          <p:cNvPr id="5" name="Footer Placeholder 4"/>
          <p:cNvSpPr>
            <a:spLocks noGrp="1"/>
          </p:cNvSpPr>
          <p:nvPr>
            <p:ph type="ftr" sz="quarter" idx="11"/>
          </p:nvPr>
        </p:nvSpPr>
        <p:spPr/>
        <p:txBody>
          <a:bodyPr/>
          <a:lstStyle/>
          <a:p>
            <a:r>
              <a:rPr lang="en-US"/>
              <a:t>Mini Project Topic Approval </a:t>
            </a:r>
            <a:endParaRPr lang="en-IN"/>
          </a:p>
        </p:txBody>
      </p:sp>
      <p:sp>
        <p:nvSpPr>
          <p:cNvPr id="6" name="Slide Number Placeholder 5"/>
          <p:cNvSpPr>
            <a:spLocks noGrp="1"/>
          </p:cNvSpPr>
          <p:nvPr>
            <p:ph type="sldNum" sz="quarter" idx="12"/>
          </p:nvPr>
        </p:nvSpPr>
        <p:spPr/>
        <p:txBody>
          <a:bodyPr/>
          <a:lstStyle/>
          <a:p>
            <a:fld id="{54A0433F-D463-4C6D-93BB-5B095B314A64}"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6D2EB0-82D9-4497-B5B3-7698846BA1FA}" type="datetime1">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Mini Project Topic Approval </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A0433F-D463-4C6D-93BB-5B095B314A64}"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ctrTitle"/>
          </p:nvPr>
        </p:nvSpPr>
        <p:spPr>
          <a:xfrm>
            <a:off x="459740" y="1208405"/>
            <a:ext cx="11529695" cy="1090295"/>
          </a:xfrm>
        </p:spPr>
        <p:txBody>
          <a:bodyPr>
            <a:normAutofit fontScale="90000"/>
          </a:bodyPr>
          <a:lstStyle/>
          <a:p>
            <a:r>
              <a:rPr lang="en-IN" sz="2400" dirty="0"/>
              <a:t>	</a:t>
            </a:r>
            <a:br>
              <a:rPr lang="en-IN" sz="2400" dirty="0"/>
            </a:br>
            <a:r>
              <a:rPr lang="en-US" altLang="en-GB" sz="3100" b="1" dirty="0">
                <a:latin typeface="Times New Roman" panose="02020603050405020304" pitchFamily="18" charset="0"/>
                <a:ea typeface="+mn-ea"/>
                <a:cs typeface="Times New Roman" panose="02020603050405020304" pitchFamily="18" charset="0"/>
              </a:rPr>
              <a:t>APSIT AI ASSISTANT: A RETRIEVAL-AUGMENTED CONVERSATIONAL SYSTEM FOR INSTITUTIONAL KNOWLEDGE</a:t>
            </a:r>
            <a:r>
              <a:rPr lang="en-GB" altLang="en-IN" sz="3600" dirty="0">
                <a:latin typeface="Times New Roman" panose="02020603050405020304" pitchFamily="18" charset="0"/>
                <a:cs typeface="Times New Roman" panose="02020603050405020304" pitchFamily="18" charset="0"/>
              </a:rPr>
              <a:t> </a:t>
            </a:r>
            <a:endParaRPr lang="en-GB" altLang="en-IN" sz="3600"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786765" y="2298700"/>
            <a:ext cx="11405870" cy="4784090"/>
          </a:xfrm>
          <a:prstGeom prst="rect">
            <a:avLst/>
          </a:prstGeom>
          <a:noFill/>
        </p:spPr>
        <p:txBody>
          <a:bodyPr wrap="square" rtlCol="0">
            <a:noAutofit/>
          </a:bodyPr>
          <a:lstStyle/>
          <a:p>
            <a:pPr marL="285750" indent="-285750" algn="l">
              <a:lnSpc>
                <a:spcPct val="2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Theme- </a:t>
            </a:r>
            <a:r>
              <a:rPr lang="en-US" altLang="en-GB" sz="2400" b="1" dirty="0">
                <a:latin typeface="Times New Roman" panose="02020603050405020304" pitchFamily="18" charset="0"/>
                <a:cs typeface="Times New Roman" panose="02020603050405020304" pitchFamily="18" charset="0"/>
              </a:rPr>
              <a:t>SDG 4 – Quality Education</a:t>
            </a:r>
            <a:r>
              <a:rPr lang="en-GB" altLang="en-US" sz="2400" b="1" dirty="0">
                <a:latin typeface="Times New Roman" panose="02020603050405020304" pitchFamily="18" charset="0"/>
                <a:cs typeface="Times New Roman" panose="02020603050405020304" pitchFamily="18" charset="0"/>
              </a:rPr>
              <a:t> </a:t>
            </a:r>
            <a:endParaRPr lang="en-GB" altLang="en-US" sz="2400" b="1" dirty="0">
              <a:latin typeface="Times New Roman" panose="02020603050405020304" pitchFamily="18" charset="0"/>
              <a:cs typeface="Times New Roman" panose="02020603050405020304" pitchFamily="18" charset="0"/>
            </a:endParaRPr>
          </a:p>
          <a:p>
            <a:pPr indent="0" algn="l">
              <a:lnSpc>
                <a:spcPct val="200000"/>
              </a:lnSpc>
              <a:buFont typeface="Arial" panose="020B0604020202020204" pitchFamily="34" charset="0"/>
              <a:buNone/>
            </a:pPr>
            <a:r>
              <a:rPr lang="en-GB" altLang="en-US" sz="2400" b="1" dirty="0">
                <a:latin typeface="Times New Roman" panose="02020603050405020304" pitchFamily="18" charset="0"/>
                <a:cs typeface="Times New Roman" panose="02020603050405020304" pitchFamily="18" charset="0"/>
              </a:rPr>
              <a:t>                  </a:t>
            </a:r>
            <a:r>
              <a:rPr lang="en-US" altLang="en-GB" sz="2400" b="1" dirty="0">
                <a:latin typeface="Times New Roman" panose="02020603050405020304" pitchFamily="18" charset="0"/>
                <a:cs typeface="Times New Roman" panose="02020603050405020304" pitchFamily="18" charset="0"/>
              </a:rPr>
              <a:t>SDG 9: Industry, Innovation and Infrastructure</a:t>
            </a:r>
            <a:endParaRPr lang="en-US" altLang="en-GB" sz="2400" b="1" dirty="0">
              <a:latin typeface="Times New Roman" panose="02020603050405020304" pitchFamily="18" charset="0"/>
              <a:cs typeface="Times New Roman" panose="02020603050405020304" pitchFamily="18" charset="0"/>
            </a:endParaRPr>
          </a:p>
          <a:p>
            <a:pPr marL="285750" indent="-285750" algn="l">
              <a:lnSpc>
                <a:spcPct val="2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Category- Software</a:t>
            </a:r>
            <a:endParaRPr lang="en-US" sz="2400" b="1" dirty="0">
              <a:latin typeface="Times New Roman" panose="02020603050405020304" pitchFamily="18" charset="0"/>
              <a:cs typeface="Times New Roman" panose="02020603050405020304" pitchFamily="18" charset="0"/>
            </a:endParaRPr>
          </a:p>
          <a:p>
            <a:pPr marL="285750" indent="-285750" algn="l">
              <a:lnSpc>
                <a:spcPct val="2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Group No -</a:t>
            </a:r>
            <a:r>
              <a:rPr lang="en-GB" altLang="en-US" sz="2400" b="1" dirty="0">
                <a:latin typeface="Times New Roman" panose="02020603050405020304" pitchFamily="18" charset="0"/>
                <a:cs typeface="Times New Roman" panose="02020603050405020304" pitchFamily="18" charset="0"/>
              </a:rPr>
              <a:t>10 </a:t>
            </a:r>
            <a:endParaRPr lang="en-US" sz="2400" b="1" dirty="0">
              <a:latin typeface="Times New Roman" panose="02020603050405020304" pitchFamily="18" charset="0"/>
              <a:cs typeface="Times New Roman" panose="02020603050405020304" pitchFamily="18" charset="0"/>
            </a:endParaRPr>
          </a:p>
          <a:p>
            <a:pPr marL="285750" indent="-285750" algn="l">
              <a:lnSpc>
                <a:spcPct val="2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Group Members-</a:t>
            </a:r>
            <a:r>
              <a:rPr lang="en-GB" altLang="en-US" sz="2400" b="1" dirty="0">
                <a:latin typeface="Times New Roman" panose="02020603050405020304" pitchFamily="18" charset="0"/>
                <a:cs typeface="Times New Roman" panose="02020603050405020304" pitchFamily="18" charset="0"/>
              </a:rPr>
              <a:t>Anup Singh,Soham Waradkar,Sanket Kokare</a:t>
            </a:r>
            <a:r>
              <a:rPr lang="en-GB" altLang="en-US" sz="2400" b="1" dirty="0">
                <a:latin typeface="Times New Roman" panose="02020603050405020304" pitchFamily="18" charset="0"/>
                <a:cs typeface="Times New Roman" panose="02020603050405020304" pitchFamily="18" charset="0"/>
                <a:sym typeface="+mn-ea"/>
              </a:rPr>
              <a:t>,Yogesh Vartak</a:t>
            </a:r>
            <a:endParaRPr lang="en-US" sz="2400" b="1" dirty="0">
              <a:latin typeface="Times New Roman" panose="02020603050405020304" pitchFamily="18" charset="0"/>
              <a:cs typeface="Times New Roman" panose="02020603050405020304" pitchFamily="18" charset="0"/>
            </a:endParaRPr>
          </a:p>
          <a:p>
            <a:pPr marL="285750" indent="-285750" algn="l">
              <a:lnSpc>
                <a:spcPct val="2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Guide-</a:t>
            </a:r>
            <a:r>
              <a:rPr lang="en-GB" altLang="en-US" sz="2400" b="1" dirty="0">
                <a:latin typeface="Times New Roman" panose="02020603050405020304" pitchFamily="18" charset="0"/>
                <a:cs typeface="Times New Roman" panose="02020603050405020304" pitchFamily="18" charset="0"/>
              </a:rPr>
              <a:t>Prof.Sumeet Shingi</a:t>
            </a:r>
            <a:endParaRPr lang="en-GB" altLang="en-US" sz="2400" b="1" dirty="0">
              <a:latin typeface="Times New Roman" panose="02020603050405020304" pitchFamily="18" charset="0"/>
              <a:cs typeface="Times New Roman" panose="02020603050405020304" pitchFamily="18" charset="0"/>
            </a:endParaRPr>
          </a:p>
        </p:txBody>
      </p:sp>
      <p:sp>
        <p:nvSpPr>
          <p:cNvPr id="3" name="Rectangle 2"/>
          <p:cNvSpPr>
            <a:spLocks noChangeArrowheads="1"/>
          </p:cNvSpPr>
          <p:nvPr/>
        </p:nvSpPr>
        <p:spPr bwMode="auto">
          <a:xfrm>
            <a:off x="5309418" y="3200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pic>
        <p:nvPicPr>
          <p:cNvPr id="13" name="Picture 12"/>
          <p:cNvPicPr>
            <a:picLocks noChangeAspect="1"/>
          </p:cNvPicPr>
          <p:nvPr/>
        </p:nvPicPr>
        <p:blipFill>
          <a:blip r:embed="rId1"/>
          <a:stretch>
            <a:fillRect/>
          </a:stretch>
        </p:blipFill>
        <p:spPr>
          <a:xfrm>
            <a:off x="2757716" y="159134"/>
            <a:ext cx="6073666" cy="1150720"/>
          </a:xfrm>
          <a:prstGeom prst="rect">
            <a:avLst/>
          </a:prstGeom>
        </p:spPr>
      </p:pic>
      <p:sp>
        <p:nvSpPr>
          <p:cNvPr id="14" name="Slide Number Placeholder 13"/>
          <p:cNvSpPr>
            <a:spLocks noGrp="1"/>
          </p:cNvSpPr>
          <p:nvPr>
            <p:ph type="sldNum" sz="quarter" idx="12"/>
          </p:nvPr>
        </p:nvSpPr>
        <p:spPr/>
        <p:txBody>
          <a:bodyPr/>
          <a:lstStyle/>
          <a:p>
            <a:fld id="{54A0433F-D463-4C6D-93BB-5B095B314A64}" type="slidenum">
              <a:rPr lang="en-IN" smtClean="0"/>
            </a:fld>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60730" y="123825"/>
            <a:ext cx="10515600" cy="1325563"/>
          </a:xfrm>
        </p:spPr>
        <p:txBody>
          <a:bodyPr/>
          <a:p>
            <a:r>
              <a:rPr lang="en-IN" sz="3200" b="1" dirty="0">
                <a:latin typeface="Times New Roman" panose="02020603050405020304" pitchFamily="18" charset="0"/>
                <a:cs typeface="Times New Roman" panose="02020603050405020304" pitchFamily="18" charset="0"/>
                <a:sym typeface="+mn-ea"/>
              </a:rPr>
              <a:t>Presentation Outline:</a:t>
            </a:r>
            <a:endParaRPr lang="en-GB" altLang="en-US"/>
          </a:p>
        </p:txBody>
      </p:sp>
      <p:sp>
        <p:nvSpPr>
          <p:cNvPr id="3" name="Content Placeholder 2"/>
          <p:cNvSpPr>
            <a:spLocks noGrp="1"/>
          </p:cNvSpPr>
          <p:nvPr>
            <p:ph idx="1"/>
          </p:nvPr>
        </p:nvSpPr>
        <p:spPr>
          <a:xfrm>
            <a:off x="760730" y="1555115"/>
            <a:ext cx="10515600" cy="4351338"/>
          </a:xfrm>
        </p:spPr>
        <p:txBody>
          <a:bodyPr>
            <a:noAutofit/>
          </a:bodyPr>
          <a:p>
            <a:pPr algn="just">
              <a:lnSpc>
                <a:spcPts val="2640"/>
              </a:lnSpc>
              <a:spcBef>
                <a:spcPts val="0"/>
              </a:spcBef>
              <a:spcAft>
                <a:spcPts val="1800"/>
              </a:spcAft>
            </a:pPr>
            <a:r>
              <a:rPr lang="en-US" sz="2400" b="1" dirty="0">
                <a:latin typeface="Times New Roman" panose="02020603050405020304" pitchFamily="18" charset="0"/>
                <a:cs typeface="Times New Roman" panose="02020603050405020304" pitchFamily="18" charset="0"/>
                <a:sym typeface="+mn-ea"/>
              </a:rPr>
              <a:t>Introduction &amp; SDG mapped</a:t>
            </a:r>
            <a:endParaRPr lang="en-US" sz="2400" b="1" dirty="0"/>
          </a:p>
          <a:p>
            <a:pPr algn="just">
              <a:lnSpc>
                <a:spcPts val="2640"/>
              </a:lnSpc>
              <a:spcBef>
                <a:spcPts val="0"/>
              </a:spcBef>
              <a:spcAft>
                <a:spcPts val="1800"/>
              </a:spcAft>
            </a:pPr>
            <a:r>
              <a:rPr lang="en-US" sz="2400" b="1" dirty="0">
                <a:latin typeface="Times New Roman" panose="02020603050405020304" pitchFamily="18" charset="0"/>
                <a:cs typeface="Times New Roman" panose="02020603050405020304" pitchFamily="18" charset="0"/>
                <a:sym typeface="+mn-ea"/>
              </a:rPr>
              <a:t>Literature Survey</a:t>
            </a:r>
            <a:endParaRPr lang="en-US" sz="2400" b="1" dirty="0"/>
          </a:p>
          <a:p>
            <a:pPr algn="just">
              <a:lnSpc>
                <a:spcPts val="2640"/>
              </a:lnSpc>
              <a:spcBef>
                <a:spcPts val="0"/>
              </a:spcBef>
              <a:spcAft>
                <a:spcPts val="1800"/>
              </a:spcAft>
            </a:pPr>
            <a:r>
              <a:rPr lang="en-US" sz="2400" b="1" dirty="0">
                <a:latin typeface="Times New Roman" panose="02020603050405020304" pitchFamily="18" charset="0"/>
                <a:cs typeface="Times New Roman" panose="02020603050405020304" pitchFamily="18" charset="0"/>
                <a:sym typeface="+mn-ea"/>
              </a:rPr>
              <a:t>Limitations in Existing Systems</a:t>
            </a:r>
            <a:endParaRPr lang="en-US" sz="2400" b="1" dirty="0"/>
          </a:p>
          <a:p>
            <a:pPr algn="just">
              <a:lnSpc>
                <a:spcPts val="2640"/>
              </a:lnSpc>
              <a:spcBef>
                <a:spcPts val="0"/>
              </a:spcBef>
              <a:spcAft>
                <a:spcPts val="1800"/>
              </a:spcAft>
            </a:pPr>
            <a:r>
              <a:rPr lang="en-US" sz="2400" b="1" dirty="0">
                <a:latin typeface="Times New Roman" panose="02020603050405020304" pitchFamily="18" charset="0"/>
                <a:cs typeface="Times New Roman" panose="02020603050405020304" pitchFamily="18" charset="0"/>
                <a:sym typeface="+mn-ea"/>
              </a:rPr>
              <a:t>Problem Statement</a:t>
            </a:r>
            <a:endParaRPr lang="en-US" sz="2400" b="1" dirty="0"/>
          </a:p>
          <a:p>
            <a:pPr algn="just">
              <a:lnSpc>
                <a:spcPts val="2640"/>
              </a:lnSpc>
              <a:spcBef>
                <a:spcPts val="0"/>
              </a:spcBef>
              <a:spcAft>
                <a:spcPts val="1800"/>
              </a:spcAft>
            </a:pPr>
            <a:r>
              <a:rPr lang="en-US" sz="2400" b="1" dirty="0">
                <a:latin typeface="Times New Roman" panose="02020603050405020304" pitchFamily="18" charset="0"/>
                <a:cs typeface="Times New Roman" panose="02020603050405020304" pitchFamily="18" charset="0"/>
                <a:sym typeface="+mn-ea"/>
              </a:rPr>
              <a:t>Proposed Solution </a:t>
            </a:r>
            <a:endParaRPr lang="en-US" sz="2400" b="1" dirty="0"/>
          </a:p>
          <a:p>
            <a:pPr algn="just">
              <a:lnSpc>
                <a:spcPts val="2640"/>
              </a:lnSpc>
              <a:spcBef>
                <a:spcPts val="0"/>
              </a:spcBef>
              <a:spcAft>
                <a:spcPts val="1800"/>
              </a:spcAft>
            </a:pPr>
            <a:r>
              <a:rPr lang="en-US" sz="2400" b="1" dirty="0">
                <a:latin typeface="Times New Roman" panose="02020603050405020304" pitchFamily="18" charset="0"/>
                <a:cs typeface="Times New Roman" panose="02020603050405020304" pitchFamily="18" charset="0"/>
                <a:sym typeface="+mn-ea"/>
              </a:rPr>
              <a:t>Experimental Setup</a:t>
            </a:r>
            <a:endParaRPr lang="en-US" sz="2400" b="1" dirty="0"/>
          </a:p>
          <a:p>
            <a:pPr algn="just">
              <a:lnSpc>
                <a:spcPts val="2640"/>
              </a:lnSpc>
              <a:spcBef>
                <a:spcPts val="0"/>
              </a:spcBef>
              <a:spcAft>
                <a:spcPts val="1800"/>
              </a:spcAft>
            </a:pPr>
            <a:r>
              <a:rPr lang="en-US" sz="2400" b="1" dirty="0">
                <a:latin typeface="Times New Roman" panose="02020603050405020304" pitchFamily="18" charset="0"/>
                <a:cs typeface="Times New Roman" panose="02020603050405020304" pitchFamily="18" charset="0"/>
                <a:sym typeface="+mn-ea"/>
              </a:rPr>
              <a:t>Implementation</a:t>
            </a:r>
            <a:endParaRPr lang="en-US" sz="2400" b="1" dirty="0"/>
          </a:p>
          <a:p>
            <a:pPr algn="just">
              <a:lnSpc>
                <a:spcPts val="2640"/>
              </a:lnSpc>
              <a:spcBef>
                <a:spcPts val="0"/>
              </a:spcBef>
              <a:spcAft>
                <a:spcPts val="1800"/>
              </a:spcAft>
            </a:pPr>
            <a:r>
              <a:rPr lang="en-US" sz="2400" b="1" dirty="0">
                <a:latin typeface="Times New Roman" panose="02020603050405020304" pitchFamily="18" charset="0"/>
                <a:cs typeface="Times New Roman" panose="02020603050405020304" pitchFamily="18" charset="0"/>
                <a:sym typeface="+mn-ea"/>
              </a:rPr>
              <a:t>Conclusion</a:t>
            </a:r>
            <a:endParaRPr lang="en-US" sz="2400" b="1" dirty="0"/>
          </a:p>
          <a:p>
            <a:pPr algn="just">
              <a:lnSpc>
                <a:spcPts val="2640"/>
              </a:lnSpc>
              <a:spcBef>
                <a:spcPts val="0"/>
              </a:spcBef>
              <a:spcAft>
                <a:spcPts val="1800"/>
              </a:spcAft>
            </a:pPr>
            <a:r>
              <a:rPr lang="en-US" sz="2400" b="1" dirty="0">
                <a:latin typeface="Times New Roman" panose="02020603050405020304" pitchFamily="18" charset="0"/>
                <a:cs typeface="Times New Roman" panose="02020603050405020304" pitchFamily="18" charset="0"/>
                <a:sym typeface="+mn-ea"/>
              </a:rPr>
              <a:t>Research &amp; References</a:t>
            </a:r>
            <a:endParaRPr lang="en-US" sz="2400" b="1" dirty="0"/>
          </a:p>
          <a:p>
            <a:endParaRPr lang="en-US" altLang="en-US" sz="2400" b="1" dirty="0"/>
          </a:p>
        </p:txBody>
      </p:sp>
      <p:sp>
        <p:nvSpPr>
          <p:cNvPr id="5" name="Slide Number Placeholder 4"/>
          <p:cNvSpPr>
            <a:spLocks noGrp="1"/>
          </p:cNvSpPr>
          <p:nvPr>
            <p:ph type="sldNum" sz="quarter" idx="12"/>
          </p:nvPr>
        </p:nvSpPr>
        <p:spPr/>
        <p:txBody>
          <a:bodyPr/>
          <a:p>
            <a:fld id="{54A0433F-D463-4C6D-93BB-5B095B314A64}" type="slidenum">
              <a:rPr lang="en-IN" smtClean="0"/>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sz="3200" b="1" dirty="0">
                <a:latin typeface="Times New Roman" panose="02020603050405020304" pitchFamily="18" charset="0"/>
                <a:cs typeface="Times New Roman" panose="02020603050405020304" pitchFamily="18" charset="0"/>
                <a:sym typeface="+mn-ea"/>
              </a:rPr>
              <a:t>Introduction:</a:t>
            </a:r>
            <a:endParaRPr lang="en-GB" altLang="en-US"/>
          </a:p>
        </p:txBody>
      </p:sp>
      <p:sp>
        <p:nvSpPr>
          <p:cNvPr id="3" name="Content Placeholder 2"/>
          <p:cNvSpPr>
            <a:spLocks noGrp="1"/>
          </p:cNvSpPr>
          <p:nvPr>
            <p:ph idx="1"/>
          </p:nvPr>
        </p:nvSpPr>
        <p:spPr/>
        <p:txBody>
          <a:bodyPr>
            <a:normAutofit/>
          </a:bodyPr>
          <a:p>
            <a:r>
              <a:rPr lang="en-US" altLang="en-GB" sz="2400">
                <a:latin typeface="Times New Roman" panose="02020603050405020304" pitchFamily="18" charset="0"/>
                <a:cs typeface="Times New Roman" panose="02020603050405020304" pitchFamily="18" charset="0"/>
              </a:rPr>
              <a:t>The main purpose of this chatbot is to provide instant, automated responses to students, visitors, and staff by answering their common queries related to admissions, courses, fees, schedules, and other college information.</a:t>
            </a:r>
            <a:endParaRPr lang="en-US" altLang="en-GB" sz="2400">
              <a:latin typeface="Times New Roman" panose="02020603050405020304" pitchFamily="18" charset="0"/>
              <a:cs typeface="Times New Roman" panose="02020603050405020304" pitchFamily="18" charset="0"/>
            </a:endParaRPr>
          </a:p>
          <a:p>
            <a:endParaRPr lang="en-US" altLang="en-GB" sz="2400">
              <a:latin typeface="Times New Roman" panose="02020603050405020304" pitchFamily="18" charset="0"/>
              <a:cs typeface="Times New Roman" panose="02020603050405020304" pitchFamily="18" charset="0"/>
            </a:endParaRPr>
          </a:p>
          <a:p>
            <a:r>
              <a:rPr lang="en-US" altLang="en-GB" sz="2400">
                <a:latin typeface="Times New Roman" panose="02020603050405020304" pitchFamily="18" charset="0"/>
                <a:cs typeface="Times New Roman" panose="02020603050405020304" pitchFamily="18" charset="0"/>
              </a:rPr>
              <a:t>In many cases, users have to search through multiple web pages to find information, which can be time-consuming. This chatbot simplifies the process by providing quick and accurate responses in real time through an interactive interface.</a:t>
            </a:r>
            <a:endParaRPr lang="en-US" altLang="en-GB" sz="2400">
              <a:latin typeface="Times New Roman" panose="02020603050405020304" pitchFamily="18" charset="0"/>
              <a:cs typeface="Times New Roman" panose="02020603050405020304" pitchFamily="18" charset="0"/>
            </a:endParaRPr>
          </a:p>
          <a:p>
            <a:endParaRPr lang="en-US" altLang="en-GB" sz="2400">
              <a:latin typeface="Times New Roman" panose="02020603050405020304" pitchFamily="18" charset="0"/>
              <a:cs typeface="Times New Roman" panose="02020603050405020304" pitchFamily="18" charset="0"/>
            </a:endParaRPr>
          </a:p>
          <a:p>
            <a:r>
              <a:rPr lang="en-US" altLang="en-GB" sz="2400">
                <a:latin typeface="Times New Roman" panose="02020603050405020304" pitchFamily="18" charset="0"/>
                <a:cs typeface="Times New Roman" panose="02020603050405020304" pitchFamily="18" charset="0"/>
              </a:rPr>
              <a:t>This project uses modern programming and database technologies to understand user queries and return relevant answers efficiently</a:t>
            </a:r>
            <a:endParaRPr lang="en-US" altLang="en-GB" sz="240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p>
            <a:fld id="{54A0433F-D463-4C6D-93BB-5B095B314A64}" type="slidenum">
              <a:rPr lang="en-IN" smtClean="0"/>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a:latin typeface="Times New Roman" panose="02020603050405020304" pitchFamily="18" charset="0"/>
                <a:cs typeface="Times New Roman" panose="02020603050405020304" pitchFamily="18" charset="0"/>
              </a:rPr>
              <a:t>Literature Survey:</a:t>
            </a:r>
            <a:endParaRPr lang="en-IN" sz="3200" b="1"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IN"/>
              <a:t>Mini Project Review 1</a:t>
            </a:r>
            <a:endParaRPr lang="en-IN"/>
          </a:p>
        </p:txBody>
      </p:sp>
      <p:sp>
        <p:nvSpPr>
          <p:cNvPr id="5" name="Slide Number Placeholder 4"/>
          <p:cNvSpPr>
            <a:spLocks noGrp="1"/>
          </p:cNvSpPr>
          <p:nvPr>
            <p:ph type="sldNum" sz="quarter" idx="12"/>
          </p:nvPr>
        </p:nvSpPr>
        <p:spPr/>
        <p:txBody>
          <a:bodyPr/>
          <a:lstStyle/>
          <a:p>
            <a:fld id="{1E2AE893-BA06-4F67-8C19-46525B8E0FBB}" type="slidenum">
              <a:rPr lang="en-IN" smtClean="0"/>
            </a:fld>
            <a:endParaRPr lang="en-IN"/>
          </a:p>
        </p:txBody>
      </p:sp>
      <p:graphicFrame>
        <p:nvGraphicFramePr>
          <p:cNvPr id="9" name="Table 8"/>
          <p:cNvGraphicFramePr>
            <a:graphicFrameLocks noGrp="1"/>
          </p:cNvGraphicFramePr>
          <p:nvPr/>
        </p:nvGraphicFramePr>
        <p:xfrm>
          <a:off x="838201" y="1228730"/>
          <a:ext cx="10515598" cy="5127620"/>
        </p:xfrm>
        <a:graphic>
          <a:graphicData uri="http://schemas.openxmlformats.org/drawingml/2006/table">
            <a:tbl>
              <a:tblPr firstRow="1" firstCol="1" bandRow="1">
                <a:tableStyleId>{7DF18680-E054-41AD-8BC1-D1AEF772440D}</a:tableStyleId>
              </a:tblPr>
              <a:tblGrid>
                <a:gridCol w="2204802"/>
                <a:gridCol w="3162925"/>
                <a:gridCol w="5147871"/>
              </a:tblGrid>
              <a:tr h="562400">
                <a:tc>
                  <a:txBody>
                    <a:bodyPr/>
                    <a:lstStyle/>
                    <a:p>
                      <a:pPr algn="ctr">
                        <a:lnSpc>
                          <a:spcPct val="107000"/>
                        </a:lnSpc>
                        <a:spcAft>
                          <a:spcPts val="0"/>
                        </a:spcAft>
                      </a:pPr>
                      <a:r>
                        <a:rPr lang="en-IN" sz="1700" b="1" dirty="0">
                          <a:effectLst/>
                          <a:latin typeface="Times New Roman" panose="02020603050405020304" pitchFamily="18" charset="0"/>
                          <a:ea typeface="Calibri" panose="020F0502020204030204" charset="0"/>
                          <a:cs typeface="Times New Roman" panose="02020603050405020304" pitchFamily="18" charset="0"/>
                        </a:rPr>
                        <a:t>Author(s) &amp; Year</a:t>
                      </a:r>
                      <a:endParaRPr lang="en-IN" sz="1700" dirty="0">
                        <a:effectLst/>
                        <a:latin typeface="Times New Roman" panose="02020603050405020304" pitchFamily="18" charset="0"/>
                        <a:ea typeface="Calibri" panose="020F050202020403020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IN" sz="1700" b="1" dirty="0">
                          <a:effectLst/>
                          <a:latin typeface="Times New Roman" panose="02020603050405020304" pitchFamily="18" charset="0"/>
                          <a:ea typeface="Calibri" panose="020F0502020204030204" charset="0"/>
                          <a:cs typeface="Times New Roman" panose="02020603050405020304" pitchFamily="18" charset="0"/>
                        </a:rPr>
                        <a:t>Techniques/Methods</a:t>
                      </a:r>
                      <a:endParaRPr lang="en-IN" sz="1700" dirty="0">
                        <a:effectLst/>
                        <a:latin typeface="Times New Roman" panose="02020603050405020304" pitchFamily="18" charset="0"/>
                        <a:ea typeface="Calibri" panose="020F050202020403020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IN" sz="1700" b="1" dirty="0">
                          <a:effectLst/>
                          <a:latin typeface="Times New Roman" panose="02020603050405020304" pitchFamily="18" charset="0"/>
                          <a:ea typeface="Calibri" panose="020F0502020204030204" charset="0"/>
                          <a:cs typeface="Times New Roman" panose="02020603050405020304" pitchFamily="18" charset="0"/>
                        </a:rPr>
                        <a:t>Key points</a:t>
                      </a:r>
                      <a:endParaRPr lang="en-IN" sz="1700" dirty="0">
                        <a:effectLst/>
                        <a:latin typeface="Times New Roman" panose="02020603050405020304" pitchFamily="18" charset="0"/>
                        <a:ea typeface="Calibri" panose="020F0502020204030204" charset="0"/>
                        <a:cs typeface="Times New Roman" panose="02020603050405020304" pitchFamily="18" charset="0"/>
                      </a:endParaRPr>
                    </a:p>
                  </a:txBody>
                  <a:tcPr marL="68580" marR="68580" marT="0" marB="0" anchor="ctr"/>
                </a:tc>
              </a:tr>
              <a:tr h="1431853">
                <a:tc>
                  <a:txBody>
                    <a:bodyPr/>
                    <a:lstStyle/>
                    <a:p>
                      <a:pPr algn="just"/>
                      <a:r>
                        <a:rPr lang="en-IN" sz="1700" dirty="0">
                          <a:latin typeface="Times New Roman" panose="02020603050405020304" pitchFamily="18" charset="0"/>
                          <a:cs typeface="Times New Roman" panose="02020603050405020304" pitchFamily="18" charset="0"/>
                        </a:rPr>
                        <a:t>[1] </a:t>
                      </a:r>
                      <a:r>
                        <a:rPr lang="en-US" altLang="en-GB" sz="1700" dirty="0">
                          <a:latin typeface="Times New Roman" panose="02020603050405020304" pitchFamily="18" charset="0"/>
                          <a:cs typeface="Times New Roman" panose="02020603050405020304" pitchFamily="18" charset="0"/>
                        </a:rPr>
                        <a:t>R. Parkar, Y. Payare, K. Mithari, J. Nambiar, J. Gupta (2021)</a:t>
                      </a:r>
                      <a:endParaRPr lang="en-US" altLang="en-GB" sz="1700" dirty="0">
                        <a:latin typeface="Times New Roman" panose="02020603050405020304" pitchFamily="18" charset="0"/>
                        <a:cs typeface="Times New Roman" panose="02020603050405020304" pitchFamily="18" charset="0"/>
                      </a:endParaRPr>
                    </a:p>
                  </a:txBody>
                  <a:tcPr anchor="ctr"/>
                </a:tc>
                <a:tc>
                  <a:txBody>
                    <a:bodyPr/>
                    <a:lstStyle/>
                    <a:p>
                      <a:pPr indent="0" algn="l">
                        <a:buFont typeface="Arial" panose="020B0604020202020204" pitchFamily="34" charset="0"/>
                        <a:buNone/>
                      </a:pPr>
                      <a:r>
                        <a:rPr lang="en-US" altLang="en-GB" sz="1700" dirty="0">
                          <a:latin typeface="Times New Roman" panose="02020603050405020304" pitchFamily="18" charset="0"/>
                          <a:cs typeface="Times New Roman" panose="02020603050405020304" pitchFamily="18" charset="0"/>
                        </a:rPr>
                        <a:t>• AI-based chatbot system</a:t>
                      </a:r>
                      <a:endParaRPr lang="en-US" altLang="en-GB" sz="1700" dirty="0">
                        <a:latin typeface="Times New Roman" panose="02020603050405020304" pitchFamily="18" charset="0"/>
                        <a:cs typeface="Times New Roman" panose="02020603050405020304" pitchFamily="18" charset="0"/>
                      </a:endParaRPr>
                    </a:p>
                    <a:p>
                      <a:pPr indent="0" algn="l">
                        <a:buFont typeface="Arial" panose="020B0604020202020204" pitchFamily="34" charset="0"/>
                        <a:buNone/>
                      </a:pPr>
                      <a:r>
                        <a:rPr lang="en-US" altLang="en-GB" sz="1700" dirty="0">
                          <a:latin typeface="Times New Roman" panose="02020603050405020304" pitchFamily="18" charset="0"/>
                          <a:cs typeface="Times New Roman" panose="02020603050405020304" pitchFamily="18" charset="0"/>
                        </a:rPr>
                        <a:t>• Natural Language Processing (NLP)</a:t>
                      </a:r>
                      <a:endParaRPr lang="en-US" altLang="en-GB" sz="1700" dirty="0">
                        <a:latin typeface="Times New Roman" panose="02020603050405020304" pitchFamily="18" charset="0"/>
                        <a:cs typeface="Times New Roman" panose="02020603050405020304" pitchFamily="18" charset="0"/>
                      </a:endParaRPr>
                    </a:p>
                    <a:p>
                      <a:pPr indent="0" algn="l">
                        <a:buFont typeface="Arial" panose="020B0604020202020204" pitchFamily="34" charset="0"/>
                        <a:buNone/>
                      </a:pPr>
                      <a:r>
                        <a:rPr lang="en-US" altLang="en-GB" sz="1700" dirty="0">
                          <a:latin typeface="Times New Roman" panose="02020603050405020304" pitchFamily="18" charset="0"/>
                          <a:cs typeface="Times New Roman" panose="02020603050405020304" pitchFamily="18" charset="0"/>
                        </a:rPr>
                        <a:t>• Machine Learning</a:t>
                      </a:r>
                      <a:endParaRPr lang="en-US" altLang="en-GB" sz="1700" dirty="0">
                        <a:latin typeface="Times New Roman" panose="02020603050405020304" pitchFamily="18" charset="0"/>
                        <a:cs typeface="Times New Roman" panose="02020603050405020304" pitchFamily="18" charset="0"/>
                      </a:endParaRPr>
                    </a:p>
                    <a:p>
                      <a:pPr indent="0" algn="l">
                        <a:buFont typeface="Arial" panose="020B0604020202020204" pitchFamily="34" charset="0"/>
                        <a:buNone/>
                      </a:pPr>
                      <a:r>
                        <a:rPr lang="en-US" altLang="en-GB" sz="1700" dirty="0">
                          <a:latin typeface="Times New Roman" panose="02020603050405020304" pitchFamily="18" charset="0"/>
                          <a:cs typeface="Times New Roman" panose="02020603050405020304" pitchFamily="18" charset="0"/>
                        </a:rPr>
                        <a:t>• Web-based GUI interface</a:t>
                      </a:r>
                      <a:endParaRPr lang="en-US" altLang="en-GB" sz="1700" dirty="0">
                        <a:latin typeface="Times New Roman" panose="02020603050405020304" pitchFamily="18" charset="0"/>
                        <a:cs typeface="Times New Roman" panose="02020603050405020304" pitchFamily="18" charset="0"/>
                      </a:endParaRPr>
                    </a:p>
                    <a:p>
                      <a:pPr indent="0" algn="l">
                        <a:buFont typeface="Arial" panose="020B0604020202020204" pitchFamily="34" charset="0"/>
                        <a:buNone/>
                      </a:pPr>
                      <a:r>
                        <a:rPr lang="en-US" altLang="en-GB" sz="1700" dirty="0">
                          <a:latin typeface="Times New Roman" panose="02020603050405020304" pitchFamily="18" charset="0"/>
                          <a:cs typeface="Times New Roman" panose="02020603050405020304" pitchFamily="18" charset="0"/>
                        </a:rPr>
                        <a:t>• Speech recognition integration</a:t>
                      </a:r>
                      <a:endParaRPr lang="en-US" sz="1700" dirty="0">
                        <a:latin typeface="Times New Roman" panose="02020603050405020304" pitchFamily="18" charset="0"/>
                        <a:cs typeface="Times New Roman" panose="02020603050405020304" pitchFamily="18" charset="0"/>
                      </a:endParaRPr>
                    </a:p>
                  </a:txBody>
                  <a:tcPr anchor="ctr"/>
                </a:tc>
                <a:tc>
                  <a:txBody>
                    <a:bodyPr/>
                    <a:lstStyle/>
                    <a:p>
                      <a:pPr marL="285750" indent="-285750" algn="just">
                        <a:buFont typeface="Arial" panose="020B0604020202020204" pitchFamily="34" charset="0"/>
                        <a:buChar char="•"/>
                      </a:pPr>
                      <a:r>
                        <a:rPr lang="en-US" altLang="en-GB" sz="1700" dirty="0">
                          <a:latin typeface="Times New Roman" panose="02020603050405020304" pitchFamily="18" charset="0"/>
                          <a:cs typeface="Times New Roman" panose="02020603050405020304" pitchFamily="18" charset="0"/>
                        </a:rPr>
                        <a:t>Developed interactive college enquiry chatbot</a:t>
                      </a:r>
                      <a:endParaRPr lang="en-US" altLang="en-GB" sz="17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sz="1700" dirty="0">
                          <a:latin typeface="Times New Roman" panose="02020603050405020304" pitchFamily="18" charset="0"/>
                          <a:cs typeface="Times New Roman" panose="02020603050405020304" pitchFamily="18" charset="0"/>
                        </a:rPr>
                        <a:t>Handles student queries using NLP techniques</a:t>
                      </a:r>
                      <a:endParaRPr lang="en-US" altLang="en-GB" sz="17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sz="1700" dirty="0">
                          <a:latin typeface="Times New Roman" panose="02020603050405020304" pitchFamily="18" charset="0"/>
                          <a:cs typeface="Times New Roman" panose="02020603050405020304" pitchFamily="18" charset="0"/>
                        </a:rPr>
                        <a:t>Web-based system for easy accessibility</a:t>
                      </a:r>
                      <a:endParaRPr lang="en-US" altLang="en-GB" sz="17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sz="1700" dirty="0">
                          <a:latin typeface="Times New Roman" panose="02020603050405020304" pitchFamily="18" charset="0"/>
                          <a:cs typeface="Times New Roman" panose="02020603050405020304" pitchFamily="18" charset="0"/>
                        </a:rPr>
                        <a:t>Enhances user interaction in educational institutions</a:t>
                      </a:r>
                      <a:endParaRPr lang="en-US" altLang="en-GB" sz="17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sz="1700" dirty="0">
                          <a:latin typeface="Times New Roman" panose="02020603050405020304" pitchFamily="18" charset="0"/>
                          <a:cs typeface="Times New Roman" panose="02020603050405020304" pitchFamily="18" charset="0"/>
                        </a:rPr>
                        <a:t>Reduces manual enquiry workload</a:t>
                      </a:r>
                      <a:endParaRPr lang="en-US" altLang="en-GB" sz="1700" dirty="0">
                        <a:latin typeface="Times New Roman" panose="02020603050405020304" pitchFamily="18" charset="0"/>
                        <a:cs typeface="Times New Roman" panose="02020603050405020304" pitchFamily="18" charset="0"/>
                      </a:endParaRPr>
                    </a:p>
                  </a:txBody>
                  <a:tcPr anchor="ctr"/>
                </a:tc>
              </a:tr>
              <a:tr h="1699342">
                <a:tc>
                  <a:txBody>
                    <a:bodyPr/>
                    <a:lstStyle/>
                    <a:p>
                      <a:pPr algn="just"/>
                      <a:r>
                        <a:rPr lang="pt-BR" sz="1700" dirty="0">
                          <a:latin typeface="Times New Roman" panose="02020603050405020304" pitchFamily="18" charset="0"/>
                          <a:cs typeface="Times New Roman" panose="02020603050405020304" pitchFamily="18" charset="0"/>
                        </a:rPr>
                        <a:t>[2] </a:t>
                      </a:r>
                      <a:r>
                        <a:rPr lang="en-US" altLang="en-GB" sz="1700" dirty="0">
                          <a:latin typeface="Times New Roman" panose="02020603050405020304" pitchFamily="18" charset="0"/>
                          <a:cs typeface="Times New Roman" panose="02020603050405020304" pitchFamily="18" charset="0"/>
                        </a:rPr>
                        <a:t>N. Bhardwaj, S. K. H, A. D, R. M (2024)</a:t>
                      </a:r>
                      <a:endParaRPr lang="en-US" altLang="en-GB" sz="1700" dirty="0">
                        <a:latin typeface="Times New Roman" panose="02020603050405020304" pitchFamily="18" charset="0"/>
                        <a:cs typeface="Times New Roman" panose="02020603050405020304" pitchFamily="18" charset="0"/>
                      </a:endParaRPr>
                    </a:p>
                  </a:txBody>
                  <a:tcPr anchor="ctr"/>
                </a:tc>
                <a:tc>
                  <a:txBody>
                    <a:bodyPr/>
                    <a:lstStyle/>
                    <a:p>
                      <a:pPr indent="0" algn="l">
                        <a:buFont typeface="Arial" panose="020B0604020202020204" pitchFamily="34" charset="0"/>
                        <a:buNone/>
                      </a:pPr>
                      <a:r>
                        <a:rPr lang="en-US" altLang="en-GB" sz="1700" dirty="0">
                          <a:latin typeface="Times New Roman" panose="02020603050405020304" pitchFamily="18" charset="0"/>
                          <a:cs typeface="Times New Roman" panose="02020603050405020304" pitchFamily="18" charset="0"/>
                        </a:rPr>
                        <a:t>• AI-powered smart chatbot</a:t>
                      </a:r>
                      <a:endParaRPr lang="en-US" altLang="en-GB" sz="1700" dirty="0">
                        <a:latin typeface="Times New Roman" panose="02020603050405020304" pitchFamily="18" charset="0"/>
                        <a:cs typeface="Times New Roman" panose="02020603050405020304" pitchFamily="18" charset="0"/>
                      </a:endParaRPr>
                    </a:p>
                    <a:p>
                      <a:pPr indent="0" algn="l">
                        <a:buFont typeface="Arial" panose="020B0604020202020204" pitchFamily="34" charset="0"/>
                        <a:buNone/>
                      </a:pPr>
                      <a:r>
                        <a:rPr lang="en-US" altLang="en-GB" sz="1700" dirty="0">
                          <a:latin typeface="Times New Roman" panose="02020603050405020304" pitchFamily="18" charset="0"/>
                          <a:cs typeface="Times New Roman" panose="02020603050405020304" pitchFamily="18" charset="0"/>
                        </a:rPr>
                        <a:t>• Knowledge-based systems</a:t>
                      </a:r>
                      <a:endParaRPr lang="en-US" altLang="en-GB" sz="1700" dirty="0">
                        <a:latin typeface="Times New Roman" panose="02020603050405020304" pitchFamily="18" charset="0"/>
                        <a:cs typeface="Times New Roman" panose="02020603050405020304" pitchFamily="18" charset="0"/>
                      </a:endParaRPr>
                    </a:p>
                    <a:p>
                      <a:pPr indent="0" algn="l">
                        <a:buFont typeface="Arial" panose="020B0604020202020204" pitchFamily="34" charset="0"/>
                        <a:buNone/>
                      </a:pPr>
                      <a:r>
                        <a:rPr lang="en-US" altLang="en-GB" sz="1700" dirty="0">
                          <a:latin typeface="Times New Roman" panose="02020603050405020304" pitchFamily="18" charset="0"/>
                          <a:cs typeface="Times New Roman" panose="02020603050405020304" pitchFamily="18" charset="0"/>
                        </a:rPr>
                        <a:t>• NLP (Semantics &amp; Syntax analysis)</a:t>
                      </a:r>
                      <a:endParaRPr lang="en-US" altLang="en-GB" sz="1700" dirty="0">
                        <a:latin typeface="Times New Roman" panose="02020603050405020304" pitchFamily="18" charset="0"/>
                        <a:cs typeface="Times New Roman" panose="02020603050405020304" pitchFamily="18" charset="0"/>
                      </a:endParaRPr>
                    </a:p>
                    <a:p>
                      <a:pPr indent="0" algn="l">
                        <a:buFont typeface="Arial" panose="020B0604020202020204" pitchFamily="34" charset="0"/>
                        <a:buNone/>
                      </a:pPr>
                      <a:r>
                        <a:rPr lang="en-US" altLang="en-GB" sz="1700" dirty="0">
                          <a:latin typeface="Times New Roman" panose="02020603050405020304" pitchFamily="18" charset="0"/>
                          <a:cs typeface="Times New Roman" panose="02020603050405020304" pitchFamily="18" charset="0"/>
                        </a:rPr>
                        <a:t>• Vector-based representation</a:t>
                      </a:r>
                      <a:endParaRPr lang="en-US" altLang="en-GB" sz="1700" dirty="0">
                        <a:latin typeface="Times New Roman" panose="02020603050405020304" pitchFamily="18" charset="0"/>
                        <a:cs typeface="Times New Roman" panose="02020603050405020304" pitchFamily="18" charset="0"/>
                      </a:endParaRPr>
                    </a:p>
                    <a:p>
                      <a:pPr indent="0" algn="l">
                        <a:buFont typeface="Arial" panose="020B0604020202020204" pitchFamily="34" charset="0"/>
                        <a:buNone/>
                      </a:pPr>
                      <a:r>
                        <a:rPr lang="en-US" altLang="en-GB" sz="1700" dirty="0">
                          <a:latin typeface="Times New Roman" panose="02020603050405020304" pitchFamily="18" charset="0"/>
                          <a:cs typeface="Times New Roman" panose="02020603050405020304" pitchFamily="18" charset="0"/>
                        </a:rPr>
                        <a:t>• Machine Learning models</a:t>
                      </a:r>
                      <a:endParaRPr lang="en-US" altLang="en-GB" sz="1700" dirty="0">
                        <a:latin typeface="Times New Roman" panose="02020603050405020304" pitchFamily="18" charset="0"/>
                        <a:cs typeface="Times New Roman" panose="02020603050405020304" pitchFamily="18" charset="0"/>
                      </a:endParaRPr>
                    </a:p>
                  </a:txBody>
                  <a:tcPr anchor="ctr"/>
                </a:tc>
                <a:tc>
                  <a:txBody>
                    <a:bodyPr/>
                    <a:lstStyle/>
                    <a:p>
                      <a:pPr indent="0" algn="just">
                        <a:buFont typeface="Arial" panose="020B0604020202020204" pitchFamily="34" charset="0"/>
                        <a:buNone/>
                      </a:pPr>
                      <a:r>
                        <a:rPr lang="en-US" altLang="en-GB" sz="1700" dirty="0">
                          <a:latin typeface="Times New Roman" panose="02020603050405020304" pitchFamily="18" charset="0"/>
                          <a:cs typeface="Times New Roman" panose="02020603050405020304" pitchFamily="18" charset="0"/>
                        </a:rPr>
                        <a:t>• Designed for smart educational communities</a:t>
                      </a:r>
                      <a:endParaRPr lang="en-US" altLang="en-GB" sz="1700" dirty="0">
                        <a:latin typeface="Times New Roman" panose="02020603050405020304" pitchFamily="18" charset="0"/>
                        <a:cs typeface="Times New Roman" panose="02020603050405020304" pitchFamily="18" charset="0"/>
                      </a:endParaRPr>
                    </a:p>
                    <a:p>
                      <a:pPr indent="0" algn="just">
                        <a:buFont typeface="Arial" panose="020B0604020202020204" pitchFamily="34" charset="0"/>
                        <a:buNone/>
                      </a:pPr>
                      <a:r>
                        <a:rPr lang="en-US" altLang="en-GB" sz="1700" dirty="0">
                          <a:latin typeface="Times New Roman" panose="02020603050405020304" pitchFamily="18" charset="0"/>
                          <a:cs typeface="Times New Roman" panose="02020603050405020304" pitchFamily="18" charset="0"/>
                        </a:rPr>
                        <a:t>• Focuses on improved user interaction</a:t>
                      </a:r>
                      <a:endParaRPr lang="en-US" altLang="en-GB" sz="1700" dirty="0">
                        <a:latin typeface="Times New Roman" panose="02020603050405020304" pitchFamily="18" charset="0"/>
                        <a:cs typeface="Times New Roman" panose="02020603050405020304" pitchFamily="18" charset="0"/>
                      </a:endParaRPr>
                    </a:p>
                    <a:p>
                      <a:pPr indent="0" algn="just">
                        <a:buFont typeface="Arial" panose="020B0604020202020204" pitchFamily="34" charset="0"/>
                        <a:buNone/>
                      </a:pPr>
                      <a:r>
                        <a:rPr lang="en-US" altLang="en-GB" sz="1700" dirty="0">
                          <a:latin typeface="Times New Roman" panose="02020603050405020304" pitchFamily="18" charset="0"/>
                          <a:cs typeface="Times New Roman" panose="02020603050405020304" pitchFamily="18" charset="0"/>
                        </a:rPr>
                        <a:t>• Uses semantic understanding for better responses</a:t>
                      </a:r>
                      <a:endParaRPr lang="en-US" altLang="en-GB" sz="1700" dirty="0">
                        <a:latin typeface="Times New Roman" panose="02020603050405020304" pitchFamily="18" charset="0"/>
                        <a:cs typeface="Times New Roman" panose="02020603050405020304" pitchFamily="18" charset="0"/>
                      </a:endParaRPr>
                    </a:p>
                    <a:p>
                      <a:pPr indent="0" algn="just">
                        <a:buFont typeface="Arial" panose="020B0604020202020204" pitchFamily="34" charset="0"/>
                        <a:buNone/>
                      </a:pPr>
                      <a:r>
                        <a:rPr lang="en-US" altLang="en-GB" sz="1700" dirty="0">
                          <a:latin typeface="Times New Roman" panose="02020603050405020304" pitchFamily="18" charset="0"/>
                          <a:cs typeface="Times New Roman" panose="02020603050405020304" pitchFamily="18" charset="0"/>
                        </a:rPr>
                        <a:t>• Supports institutional information systems</a:t>
                      </a:r>
                      <a:endParaRPr lang="en-US" altLang="en-GB" sz="1700" dirty="0">
                        <a:latin typeface="Times New Roman" panose="02020603050405020304" pitchFamily="18" charset="0"/>
                        <a:cs typeface="Times New Roman" panose="02020603050405020304" pitchFamily="18" charset="0"/>
                      </a:endParaRPr>
                    </a:p>
                    <a:p>
                      <a:pPr indent="0" algn="just">
                        <a:buFont typeface="Arial" panose="020B0604020202020204" pitchFamily="34" charset="0"/>
                        <a:buNone/>
                      </a:pPr>
                      <a:r>
                        <a:rPr lang="en-US" altLang="en-GB" sz="1700" dirty="0">
                          <a:latin typeface="Times New Roman" panose="02020603050405020304" pitchFamily="18" charset="0"/>
                          <a:cs typeface="Times New Roman" panose="02020603050405020304" pitchFamily="18" charset="0"/>
                        </a:rPr>
                        <a:t>• Enhances communication efficiency</a:t>
                      </a:r>
                      <a:endParaRPr lang="en-US" altLang="en-GB" sz="1700" dirty="0">
                        <a:latin typeface="Times New Roman" panose="02020603050405020304" pitchFamily="18" charset="0"/>
                        <a:cs typeface="Times New Roman" panose="02020603050405020304" pitchFamily="18" charset="0"/>
                      </a:endParaRPr>
                    </a:p>
                  </a:txBody>
                  <a:tcPr anchor="ctr"/>
                </a:tc>
              </a:tr>
              <a:tr h="1434025">
                <a:tc>
                  <a:txBody>
                    <a:bodyPr/>
                    <a:lstStyle/>
                    <a:p>
                      <a:pPr algn="just"/>
                      <a:r>
                        <a:rPr lang="fi-FI" sz="1700" dirty="0">
                          <a:latin typeface="Times New Roman" panose="02020603050405020304" pitchFamily="18" charset="0"/>
                          <a:cs typeface="Times New Roman" panose="02020603050405020304" pitchFamily="18" charset="0"/>
                        </a:rPr>
                        <a:t>[3]</a:t>
                      </a:r>
                      <a:r>
                        <a:rPr lang="en-US" altLang="en-GB" sz="1700" dirty="0">
                          <a:latin typeface="Times New Roman" panose="02020603050405020304" pitchFamily="18" charset="0"/>
                          <a:cs typeface="Times New Roman" panose="02020603050405020304" pitchFamily="18" charset="0"/>
                        </a:rPr>
                        <a:t>S. Meshram, N. Naik, M. VR, T. More, S. Kharche (2021)</a:t>
                      </a:r>
                      <a:endParaRPr lang="en-US" altLang="en-GB" sz="1700" dirty="0">
                        <a:latin typeface="Times New Roman" panose="02020603050405020304" pitchFamily="18" charset="0"/>
                        <a:cs typeface="Times New Roman" panose="02020603050405020304" pitchFamily="18" charset="0"/>
                      </a:endParaRPr>
                    </a:p>
                  </a:txBody>
                  <a:tcPr anchor="ctr"/>
                </a:tc>
                <a:tc>
                  <a:txBody>
                    <a:bodyPr/>
                    <a:lstStyle/>
                    <a:p>
                      <a:pPr indent="0" algn="l">
                        <a:buFont typeface="Arial" panose="020B0604020202020204" pitchFamily="34" charset="0"/>
                        <a:buNone/>
                      </a:pPr>
                      <a:r>
                        <a:rPr lang="en-US" altLang="en-GB" sz="1700" dirty="0">
                          <a:latin typeface="Times New Roman" panose="02020603050405020304" pitchFamily="18" charset="0"/>
                          <a:cs typeface="Times New Roman" panose="02020603050405020304" pitchFamily="18" charset="0"/>
                        </a:rPr>
                        <a:t>• Rasa Framework</a:t>
                      </a:r>
                      <a:endParaRPr lang="en-US" altLang="en-GB" sz="1700" dirty="0">
                        <a:latin typeface="Times New Roman" panose="02020603050405020304" pitchFamily="18" charset="0"/>
                        <a:cs typeface="Times New Roman" panose="02020603050405020304" pitchFamily="18" charset="0"/>
                      </a:endParaRPr>
                    </a:p>
                    <a:p>
                      <a:pPr indent="0" algn="l">
                        <a:buFont typeface="Arial" panose="020B0604020202020204" pitchFamily="34" charset="0"/>
                        <a:buNone/>
                      </a:pPr>
                      <a:r>
                        <a:rPr lang="en-US" altLang="en-GB" sz="1700" dirty="0">
                          <a:latin typeface="Times New Roman" panose="02020603050405020304" pitchFamily="18" charset="0"/>
                          <a:cs typeface="Times New Roman" panose="02020603050405020304" pitchFamily="18" charset="0"/>
                        </a:rPr>
                        <a:t>• Rasa NLU &amp; Rasa Core</a:t>
                      </a:r>
                      <a:endParaRPr lang="en-US" altLang="en-GB" sz="1700" dirty="0">
                        <a:latin typeface="Times New Roman" panose="02020603050405020304" pitchFamily="18" charset="0"/>
                        <a:cs typeface="Times New Roman" panose="02020603050405020304" pitchFamily="18" charset="0"/>
                      </a:endParaRPr>
                    </a:p>
                    <a:p>
                      <a:pPr indent="0" algn="l">
                        <a:buFont typeface="Arial" panose="020B0604020202020204" pitchFamily="34" charset="0"/>
                        <a:buNone/>
                      </a:pPr>
                      <a:r>
                        <a:rPr lang="en-US" altLang="en-GB" sz="1700" dirty="0">
                          <a:latin typeface="Times New Roman" panose="02020603050405020304" pitchFamily="18" charset="0"/>
                          <a:cs typeface="Times New Roman" panose="02020603050405020304" pitchFamily="18" charset="0"/>
                        </a:rPr>
                        <a:t>• NLP techniques</a:t>
                      </a:r>
                      <a:endParaRPr lang="en-US" altLang="en-GB" sz="1700" dirty="0">
                        <a:latin typeface="Times New Roman" panose="02020603050405020304" pitchFamily="18" charset="0"/>
                        <a:cs typeface="Times New Roman" panose="02020603050405020304" pitchFamily="18" charset="0"/>
                      </a:endParaRPr>
                    </a:p>
                    <a:p>
                      <a:pPr indent="0" algn="l">
                        <a:buFont typeface="Arial" panose="020B0604020202020204" pitchFamily="34" charset="0"/>
                        <a:buNone/>
                      </a:pPr>
                      <a:r>
                        <a:rPr lang="en-US" altLang="en-GB" sz="1700" dirty="0">
                          <a:latin typeface="Times New Roman" panose="02020603050405020304" pitchFamily="18" charset="0"/>
                          <a:cs typeface="Times New Roman" panose="02020603050405020304" pitchFamily="18" charset="0"/>
                        </a:rPr>
                        <a:t>• Recurrent Neural Networks (RNN)</a:t>
                      </a:r>
                      <a:endParaRPr lang="en-US" altLang="en-GB" sz="1700" dirty="0">
                        <a:latin typeface="Times New Roman" panose="02020603050405020304" pitchFamily="18" charset="0"/>
                        <a:cs typeface="Times New Roman" panose="02020603050405020304" pitchFamily="18" charset="0"/>
                      </a:endParaRPr>
                    </a:p>
                    <a:p>
                      <a:pPr indent="0" algn="l">
                        <a:buFont typeface="Arial" panose="020B0604020202020204" pitchFamily="34" charset="0"/>
                        <a:buNone/>
                      </a:pPr>
                      <a:r>
                        <a:rPr lang="en-US" altLang="en-GB" sz="1700" dirty="0">
                          <a:latin typeface="Times New Roman" panose="02020603050405020304" pitchFamily="18" charset="0"/>
                          <a:cs typeface="Times New Roman" panose="02020603050405020304" pitchFamily="18" charset="0"/>
                        </a:rPr>
                        <a:t>• Web-based application</a:t>
                      </a:r>
                      <a:endParaRPr lang="en-US" altLang="en-GB" sz="1700" dirty="0">
                        <a:latin typeface="Times New Roman" panose="02020603050405020304" pitchFamily="18" charset="0"/>
                        <a:cs typeface="Times New Roman" panose="02020603050405020304" pitchFamily="18" charset="0"/>
                      </a:endParaRPr>
                    </a:p>
                  </a:txBody>
                  <a:tcPr anchor="ctr"/>
                </a:tc>
                <a:tc>
                  <a:txBody>
                    <a:bodyPr/>
                    <a:lstStyle/>
                    <a:p>
                      <a:pPr marL="285750" indent="-285750" algn="just">
                        <a:buFont typeface="Arial" panose="020B0604020202020204" pitchFamily="34" charset="0"/>
                        <a:buChar char="•"/>
                      </a:pPr>
                      <a:r>
                        <a:rPr lang="en-US" altLang="en-GB" sz="1700" dirty="0">
                          <a:latin typeface="Times New Roman" panose="02020603050405020304" pitchFamily="18" charset="0"/>
                          <a:cs typeface="Times New Roman" panose="02020603050405020304" pitchFamily="18" charset="0"/>
                        </a:rPr>
                        <a:t>College enquiry chatbot using Rasa</a:t>
                      </a:r>
                      <a:endParaRPr lang="en-US" altLang="en-GB" sz="17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sz="1700" dirty="0">
                          <a:latin typeface="Times New Roman" panose="02020603050405020304" pitchFamily="18" charset="0"/>
                          <a:cs typeface="Times New Roman" panose="02020603050405020304" pitchFamily="18" charset="0"/>
                        </a:rPr>
                        <a:t>Intent classification &amp; entity extraction</a:t>
                      </a:r>
                      <a:endParaRPr lang="en-US" altLang="en-GB" sz="17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sz="1700" dirty="0">
                          <a:latin typeface="Times New Roman" panose="02020603050405020304" pitchFamily="18" charset="0"/>
                          <a:cs typeface="Times New Roman" panose="02020603050405020304" pitchFamily="18" charset="0"/>
                        </a:rPr>
                        <a:t>Dialogue management using Rasa Core</a:t>
                      </a:r>
                      <a:endParaRPr lang="en-US" altLang="en-GB" sz="17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sz="1700" dirty="0">
                          <a:latin typeface="Times New Roman" panose="02020603050405020304" pitchFamily="18" charset="0"/>
                          <a:cs typeface="Times New Roman" panose="02020603050405020304" pitchFamily="18" charset="0"/>
                        </a:rPr>
                        <a:t>Provides automated query handling</a:t>
                      </a:r>
                      <a:endParaRPr lang="en-US" altLang="en-GB" sz="17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sz="1700" dirty="0">
                          <a:latin typeface="Times New Roman" panose="02020603050405020304" pitchFamily="18" charset="0"/>
                          <a:cs typeface="Times New Roman" panose="02020603050405020304" pitchFamily="18" charset="0"/>
                        </a:rPr>
                        <a:t>Easy deployment as web application</a:t>
                      </a:r>
                      <a:endParaRPr lang="en-US" altLang="en-GB" sz="1700" dirty="0">
                        <a:latin typeface="Times New Roman" panose="02020603050405020304" pitchFamily="18" charset="0"/>
                        <a:cs typeface="Times New Roman" panose="02020603050405020304" pitchFamily="18" charset="0"/>
                      </a:endParaRPr>
                    </a:p>
                  </a:txBody>
                  <a:tcPr anchor="ct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a:latin typeface="Times New Roman" panose="02020603050405020304" pitchFamily="18" charset="0"/>
                <a:cs typeface="Times New Roman" panose="02020603050405020304" pitchFamily="18" charset="0"/>
              </a:rPr>
              <a:t>Literature Survey:</a:t>
            </a:r>
            <a:endParaRPr lang="en-IN" sz="3200" b="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1E2AE893-BA06-4F67-8C19-46525B8E0FBB}" type="slidenum">
              <a:rPr lang="en-IN" smtClean="0"/>
            </a:fld>
            <a:endParaRPr lang="en-IN"/>
          </a:p>
        </p:txBody>
      </p:sp>
      <p:graphicFrame>
        <p:nvGraphicFramePr>
          <p:cNvPr id="9" name="Table 8"/>
          <p:cNvGraphicFramePr>
            <a:graphicFrameLocks noGrp="1"/>
          </p:cNvGraphicFramePr>
          <p:nvPr/>
        </p:nvGraphicFramePr>
        <p:xfrm>
          <a:off x="838201" y="1285175"/>
          <a:ext cx="10515598" cy="4287649"/>
        </p:xfrm>
        <a:graphic>
          <a:graphicData uri="http://schemas.openxmlformats.org/drawingml/2006/table">
            <a:tbl>
              <a:tblPr firstRow="1" firstCol="1" bandRow="1">
                <a:tableStyleId>{7DF18680-E054-41AD-8BC1-D1AEF772440D}</a:tableStyleId>
              </a:tblPr>
              <a:tblGrid>
                <a:gridCol w="2204802"/>
                <a:gridCol w="3162925"/>
                <a:gridCol w="5147871"/>
              </a:tblGrid>
              <a:tr h="605953">
                <a:tc>
                  <a:txBody>
                    <a:bodyPr/>
                    <a:lstStyle/>
                    <a:p>
                      <a:pPr algn="ctr">
                        <a:lnSpc>
                          <a:spcPct val="107000"/>
                        </a:lnSpc>
                        <a:spcAft>
                          <a:spcPts val="0"/>
                        </a:spcAft>
                      </a:pPr>
                      <a:r>
                        <a:rPr lang="en-IN" sz="1700" b="1" dirty="0">
                          <a:effectLst/>
                          <a:latin typeface="Times New Roman" panose="02020603050405020304" pitchFamily="18" charset="0"/>
                          <a:ea typeface="Calibri" panose="020F0502020204030204" charset="0"/>
                          <a:cs typeface="Times New Roman" panose="02020603050405020304" pitchFamily="18" charset="0"/>
                        </a:rPr>
                        <a:t>Author(s) &amp; Year</a:t>
                      </a:r>
                      <a:endParaRPr lang="en-IN" sz="1700" dirty="0">
                        <a:effectLst/>
                        <a:latin typeface="Times New Roman" panose="02020603050405020304" pitchFamily="18" charset="0"/>
                        <a:ea typeface="Calibri" panose="020F050202020403020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IN" sz="1700" b="1" dirty="0">
                          <a:effectLst/>
                          <a:latin typeface="Times New Roman" panose="02020603050405020304" pitchFamily="18" charset="0"/>
                          <a:ea typeface="Calibri" panose="020F0502020204030204" charset="0"/>
                          <a:cs typeface="Times New Roman" panose="02020603050405020304" pitchFamily="18" charset="0"/>
                        </a:rPr>
                        <a:t>Techniques/Methods</a:t>
                      </a:r>
                      <a:endParaRPr lang="en-IN" sz="1700" dirty="0">
                        <a:effectLst/>
                        <a:latin typeface="Times New Roman" panose="02020603050405020304" pitchFamily="18" charset="0"/>
                        <a:ea typeface="Calibri" panose="020F050202020403020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IN" sz="1700" b="1" dirty="0">
                          <a:effectLst/>
                          <a:latin typeface="Times New Roman" panose="02020603050405020304" pitchFamily="18" charset="0"/>
                          <a:ea typeface="Calibri" panose="020F0502020204030204" charset="0"/>
                          <a:cs typeface="Times New Roman" panose="02020603050405020304" pitchFamily="18" charset="0"/>
                        </a:rPr>
                        <a:t>Key points</a:t>
                      </a:r>
                      <a:endParaRPr lang="en-IN" sz="1700" dirty="0">
                        <a:effectLst/>
                        <a:latin typeface="Times New Roman" panose="02020603050405020304" pitchFamily="18" charset="0"/>
                        <a:ea typeface="Calibri" panose="020F0502020204030204" charset="0"/>
                        <a:cs typeface="Times New Roman" panose="02020603050405020304" pitchFamily="18" charset="0"/>
                      </a:endParaRPr>
                    </a:p>
                  </a:txBody>
                  <a:tcPr marL="68580" marR="68580" marT="0" marB="0" anchor="ctr"/>
                </a:tc>
              </a:tr>
              <a:tr h="1830942">
                <a:tc>
                  <a:txBody>
                    <a:bodyPr/>
                    <a:lstStyle/>
                    <a:p>
                      <a:pPr algn="just"/>
                      <a:r>
                        <a:rPr lang="en-IN" sz="1700" dirty="0">
                          <a:latin typeface="Times New Roman" panose="02020603050405020304" pitchFamily="18" charset="0"/>
                          <a:cs typeface="Times New Roman" panose="02020603050405020304" pitchFamily="18" charset="0"/>
                        </a:rPr>
                        <a:t>[4]</a:t>
                      </a:r>
                      <a:r>
                        <a:rPr lang="en-US" altLang="en-GB" sz="1700" dirty="0">
                          <a:latin typeface="Times New Roman" panose="02020603050405020304" pitchFamily="18" charset="0"/>
                          <a:cs typeface="Times New Roman" panose="02020603050405020304" pitchFamily="18" charset="0"/>
                        </a:rPr>
                        <a:t>A. Huddar, C. Bysani, C. Suchak, U. D. Kolekar, K. Upadhyaya (2020)</a:t>
                      </a:r>
                      <a:endParaRPr lang="en-US" altLang="en-GB" sz="1700" dirty="0">
                        <a:latin typeface="Times New Roman" panose="02020603050405020304" pitchFamily="18" charset="0"/>
                        <a:cs typeface="Times New Roman" panose="02020603050405020304" pitchFamily="18" charset="0"/>
                      </a:endParaRPr>
                    </a:p>
                  </a:txBody>
                  <a:tcPr anchor="ctr"/>
                </a:tc>
                <a:tc>
                  <a:txBody>
                    <a:bodyPr/>
                    <a:lstStyle/>
                    <a:p>
                      <a:pPr indent="0" algn="l">
                        <a:buFont typeface="Arial" panose="020B0604020202020204" pitchFamily="34" charset="0"/>
                        <a:buNone/>
                      </a:pPr>
                      <a:r>
                        <a:rPr lang="en-US" altLang="en-GB" sz="1700" dirty="0">
                          <a:latin typeface="Times New Roman" panose="02020603050405020304" pitchFamily="18" charset="0"/>
                          <a:cs typeface="Times New Roman" panose="02020603050405020304" pitchFamily="18" charset="0"/>
                        </a:rPr>
                        <a:t>• RASA open-source framework</a:t>
                      </a:r>
                      <a:endParaRPr lang="en-US" altLang="en-GB" sz="1700" dirty="0">
                        <a:latin typeface="Times New Roman" panose="02020603050405020304" pitchFamily="18" charset="0"/>
                        <a:cs typeface="Times New Roman" panose="02020603050405020304" pitchFamily="18" charset="0"/>
                      </a:endParaRPr>
                    </a:p>
                    <a:p>
                      <a:pPr indent="0" algn="l">
                        <a:buFont typeface="Arial" panose="020B0604020202020204" pitchFamily="34" charset="0"/>
                        <a:buNone/>
                      </a:pPr>
                      <a:r>
                        <a:rPr lang="en-US" altLang="en-GB" sz="1700" dirty="0">
                          <a:latin typeface="Times New Roman" panose="02020603050405020304" pitchFamily="18" charset="0"/>
                          <a:cs typeface="Times New Roman" panose="02020603050405020304" pitchFamily="18" charset="0"/>
                        </a:rPr>
                        <a:t>• Machine Learning algorithms</a:t>
                      </a:r>
                      <a:endParaRPr lang="en-US" altLang="en-GB" sz="1700" dirty="0">
                        <a:latin typeface="Times New Roman" panose="02020603050405020304" pitchFamily="18" charset="0"/>
                        <a:cs typeface="Times New Roman" panose="02020603050405020304" pitchFamily="18" charset="0"/>
                      </a:endParaRPr>
                    </a:p>
                    <a:p>
                      <a:pPr indent="0" algn="l">
                        <a:buFont typeface="Arial" panose="020B0604020202020204" pitchFamily="34" charset="0"/>
                        <a:buNone/>
                      </a:pPr>
                      <a:r>
                        <a:rPr lang="en-US" altLang="en-GB" sz="1700" dirty="0">
                          <a:latin typeface="Times New Roman" panose="02020603050405020304" pitchFamily="18" charset="0"/>
                          <a:cs typeface="Times New Roman" panose="02020603050405020304" pitchFamily="18" charset="0"/>
                        </a:rPr>
                        <a:t>• LSTM &amp; RNN models</a:t>
                      </a:r>
                      <a:endParaRPr lang="en-US" altLang="en-GB" sz="1700" dirty="0">
                        <a:latin typeface="Times New Roman" panose="02020603050405020304" pitchFamily="18" charset="0"/>
                        <a:cs typeface="Times New Roman" panose="02020603050405020304" pitchFamily="18" charset="0"/>
                      </a:endParaRPr>
                    </a:p>
                    <a:p>
                      <a:pPr indent="0" algn="l">
                        <a:buFont typeface="Arial" panose="020B0604020202020204" pitchFamily="34" charset="0"/>
                        <a:buNone/>
                      </a:pPr>
                      <a:r>
                        <a:rPr lang="en-US" altLang="en-GB" sz="1700" dirty="0">
                          <a:latin typeface="Times New Roman" panose="02020603050405020304" pitchFamily="18" charset="0"/>
                          <a:cs typeface="Times New Roman" panose="02020603050405020304" pitchFamily="18" charset="0"/>
                        </a:rPr>
                        <a:t>• Database integration</a:t>
                      </a:r>
                      <a:endParaRPr lang="en-US" altLang="en-GB" sz="1700" dirty="0">
                        <a:latin typeface="Times New Roman" panose="02020603050405020304" pitchFamily="18" charset="0"/>
                        <a:cs typeface="Times New Roman" panose="02020603050405020304" pitchFamily="18" charset="0"/>
                      </a:endParaRPr>
                    </a:p>
                  </a:txBody>
                  <a:tcPr anchor="ctr"/>
                </a:tc>
                <a:tc>
                  <a:txBody>
                    <a:bodyPr/>
                    <a:lstStyle/>
                    <a:p>
                      <a:pPr marL="285750" indent="-285750" algn="just">
                        <a:buFont typeface="Arial" panose="020B0604020202020204" pitchFamily="34" charset="0"/>
                        <a:buChar char="•"/>
                      </a:pPr>
                      <a:r>
                        <a:rPr lang="en-US" altLang="en-GB" sz="1700" dirty="0">
                          <a:latin typeface="Times New Roman" panose="02020603050405020304" pitchFamily="18" charset="0"/>
                          <a:cs typeface="Times New Roman" panose="02020603050405020304" pitchFamily="18" charset="0"/>
                        </a:rPr>
                        <a:t>Developed “Dexter” FAQ chatbot</a:t>
                      </a:r>
                      <a:endParaRPr lang="en-US" altLang="en-GB" sz="17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GB" altLang="en-US" sz="1700" dirty="0">
                          <a:latin typeface="Times New Roman" panose="02020603050405020304" pitchFamily="18" charset="0"/>
                          <a:cs typeface="Times New Roman" panose="02020603050405020304" pitchFamily="18" charset="0"/>
                        </a:rPr>
                        <a:t> </a:t>
                      </a:r>
                      <a:r>
                        <a:rPr lang="en-US" altLang="en-GB" sz="1700" dirty="0">
                          <a:latin typeface="Times New Roman" panose="02020603050405020304" pitchFamily="18" charset="0"/>
                          <a:cs typeface="Times New Roman" panose="02020603050405020304" pitchFamily="18" charset="0"/>
                        </a:rPr>
                        <a:t>Focused on college FAQ automation</a:t>
                      </a:r>
                      <a:endParaRPr lang="en-US" altLang="en-GB" sz="17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sz="1700" dirty="0">
                          <a:latin typeface="Times New Roman" panose="02020603050405020304" pitchFamily="18" charset="0"/>
                          <a:cs typeface="Times New Roman" panose="02020603050405020304" pitchFamily="18" charset="0"/>
                        </a:rPr>
                        <a:t> Uses deep learning for intent detection</a:t>
                      </a:r>
                      <a:endParaRPr lang="en-US" altLang="en-GB" sz="17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sz="1700" dirty="0">
                          <a:latin typeface="Times New Roman" panose="02020603050405020304" pitchFamily="18" charset="0"/>
                          <a:cs typeface="Times New Roman" panose="02020603050405020304" pitchFamily="18" charset="0"/>
                        </a:rPr>
                        <a:t> Improves response accuracy</a:t>
                      </a:r>
                      <a:endParaRPr lang="en-US" altLang="en-GB" sz="17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GB" altLang="en-US" sz="1700" dirty="0">
                          <a:latin typeface="Times New Roman" panose="02020603050405020304" pitchFamily="18" charset="0"/>
                          <a:cs typeface="Times New Roman" panose="02020603050405020304" pitchFamily="18" charset="0"/>
                        </a:rPr>
                        <a:t> </a:t>
                      </a:r>
                      <a:r>
                        <a:rPr lang="en-US" altLang="en-GB" sz="1700" dirty="0">
                          <a:latin typeface="Times New Roman" panose="02020603050405020304" pitchFamily="18" charset="0"/>
                          <a:cs typeface="Times New Roman" panose="02020603050405020304" pitchFamily="18" charset="0"/>
                        </a:rPr>
                        <a:t>Reduces dependency on manual enquiry systems</a:t>
                      </a:r>
                      <a:endParaRPr lang="en-US" altLang="en-GB" sz="1700" dirty="0">
                        <a:latin typeface="Times New Roman" panose="02020603050405020304" pitchFamily="18" charset="0"/>
                        <a:cs typeface="Times New Roman" panose="02020603050405020304" pitchFamily="18" charset="0"/>
                      </a:endParaRPr>
                    </a:p>
                  </a:txBody>
                  <a:tcPr anchor="ctr"/>
                </a:tc>
              </a:tr>
              <a:tr h="1850754">
                <a:tc>
                  <a:txBody>
                    <a:bodyPr/>
                    <a:lstStyle/>
                    <a:p>
                      <a:pPr algn="just"/>
                      <a:r>
                        <a:rPr lang="en-IN" sz="1700" dirty="0">
                          <a:latin typeface="Times New Roman" panose="02020603050405020304" pitchFamily="18" charset="0"/>
                          <a:cs typeface="Times New Roman" panose="02020603050405020304" pitchFamily="18" charset="0"/>
                        </a:rPr>
                        <a:t>[5] </a:t>
                      </a:r>
                      <a:r>
                        <a:rPr lang="en-US" altLang="en-GB" sz="1700" dirty="0">
                          <a:latin typeface="Times New Roman" panose="02020603050405020304" pitchFamily="18" charset="0"/>
                          <a:cs typeface="Times New Roman" panose="02020603050405020304" pitchFamily="18" charset="0"/>
                        </a:rPr>
                        <a:t>J. S, J. S, S. M, G. R. Hemalakshmi (2023)</a:t>
                      </a:r>
                      <a:endParaRPr lang="en-US" altLang="en-GB" sz="1700" dirty="0">
                        <a:latin typeface="Times New Roman" panose="02020603050405020304" pitchFamily="18" charset="0"/>
                        <a:cs typeface="Times New Roman" panose="02020603050405020304" pitchFamily="18" charset="0"/>
                      </a:endParaRPr>
                    </a:p>
                  </a:txBody>
                  <a:tcPr anchor="ctr"/>
                </a:tc>
                <a:tc>
                  <a:txBody>
                    <a:bodyPr/>
                    <a:lstStyle/>
                    <a:p>
                      <a:pPr indent="0" algn="l">
                        <a:buFont typeface="Arial" panose="020B0604020202020204" pitchFamily="34" charset="0"/>
                        <a:buNone/>
                      </a:pPr>
                      <a:r>
                        <a:rPr lang="en-US" altLang="en-GB" sz="1700" dirty="0">
                          <a:latin typeface="Times New Roman" panose="02020603050405020304" pitchFamily="18" charset="0"/>
                          <a:cs typeface="Times New Roman" panose="02020603050405020304" pitchFamily="18" charset="0"/>
                        </a:rPr>
                        <a:t>• NLP-based chatbot</a:t>
                      </a:r>
                      <a:endParaRPr lang="en-US" altLang="en-GB" sz="1700" dirty="0">
                        <a:latin typeface="Times New Roman" panose="02020603050405020304" pitchFamily="18" charset="0"/>
                        <a:cs typeface="Times New Roman" panose="02020603050405020304" pitchFamily="18" charset="0"/>
                      </a:endParaRPr>
                    </a:p>
                    <a:p>
                      <a:pPr indent="0" algn="l">
                        <a:buFont typeface="Arial" panose="020B0604020202020204" pitchFamily="34" charset="0"/>
                        <a:buNone/>
                      </a:pPr>
                      <a:r>
                        <a:rPr lang="en-US" altLang="en-GB" sz="1700" dirty="0">
                          <a:latin typeface="Times New Roman" panose="02020603050405020304" pitchFamily="18" charset="0"/>
                          <a:cs typeface="Times New Roman" panose="02020603050405020304" pitchFamily="18" charset="0"/>
                        </a:rPr>
                        <a:t>• Artificial Intelligence</a:t>
                      </a:r>
                      <a:endParaRPr lang="en-US" altLang="en-GB" sz="1700" dirty="0">
                        <a:latin typeface="Times New Roman" panose="02020603050405020304" pitchFamily="18" charset="0"/>
                        <a:cs typeface="Times New Roman" panose="02020603050405020304" pitchFamily="18" charset="0"/>
                      </a:endParaRPr>
                    </a:p>
                    <a:p>
                      <a:pPr indent="0" algn="l">
                        <a:buFont typeface="Arial" panose="020B0604020202020204" pitchFamily="34" charset="0"/>
                        <a:buNone/>
                      </a:pPr>
                      <a:r>
                        <a:rPr lang="en-US" altLang="en-GB" sz="1700" dirty="0">
                          <a:latin typeface="Times New Roman" panose="02020603050405020304" pitchFamily="18" charset="0"/>
                          <a:cs typeface="Times New Roman" panose="02020603050405020304" pitchFamily="18" charset="0"/>
                        </a:rPr>
                        <a:t>• Database-driven response system</a:t>
                      </a:r>
                      <a:endParaRPr lang="en-US" altLang="en-GB" sz="1700" dirty="0">
                        <a:latin typeface="Times New Roman" panose="02020603050405020304" pitchFamily="18" charset="0"/>
                        <a:cs typeface="Times New Roman" panose="02020603050405020304" pitchFamily="18" charset="0"/>
                      </a:endParaRPr>
                    </a:p>
                    <a:p>
                      <a:pPr indent="0" algn="l">
                        <a:buFont typeface="Arial" panose="020B0604020202020204" pitchFamily="34" charset="0"/>
                        <a:buNone/>
                      </a:pPr>
                      <a:r>
                        <a:rPr lang="en-US" altLang="en-GB" sz="1700" dirty="0">
                          <a:latin typeface="Times New Roman" panose="02020603050405020304" pitchFamily="18" charset="0"/>
                          <a:cs typeface="Times New Roman" panose="02020603050405020304" pitchFamily="18" charset="0"/>
                        </a:rPr>
                        <a:t>• Query processing models</a:t>
                      </a:r>
                      <a:endParaRPr lang="en-US" altLang="en-GB" sz="1700" dirty="0">
                        <a:latin typeface="Times New Roman" panose="02020603050405020304" pitchFamily="18" charset="0"/>
                        <a:cs typeface="Times New Roman" panose="02020603050405020304" pitchFamily="18" charset="0"/>
                      </a:endParaRPr>
                    </a:p>
                  </a:txBody>
                  <a:tcPr anchor="ctr"/>
                </a:tc>
                <a:tc>
                  <a:txBody>
                    <a:bodyPr/>
                    <a:lstStyle/>
                    <a:p>
                      <a:pPr marL="285750" indent="-285750" algn="just">
                        <a:buFont typeface="Arial" panose="020B0604020202020204" pitchFamily="34" charset="0"/>
                        <a:buChar char="•"/>
                      </a:pPr>
                      <a:r>
                        <a:rPr lang="en-US" altLang="en-GB" sz="1700" dirty="0">
                          <a:latin typeface="Times New Roman" panose="02020603050405020304" pitchFamily="18" charset="0"/>
                          <a:cs typeface="Times New Roman" panose="02020603050405020304" pitchFamily="18" charset="0"/>
                        </a:rPr>
                        <a:t>College enquiry chatbot for student support</a:t>
                      </a:r>
                      <a:endParaRPr lang="en-US" altLang="en-GB" sz="17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sz="1700" dirty="0">
                          <a:latin typeface="Times New Roman" panose="02020603050405020304" pitchFamily="18" charset="0"/>
                          <a:cs typeface="Times New Roman" panose="02020603050405020304" pitchFamily="18" charset="0"/>
                        </a:rPr>
                        <a:t>Automates admission &amp; course-related queries</a:t>
                      </a:r>
                      <a:endParaRPr lang="en-US" altLang="en-GB" sz="17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sz="1700" dirty="0">
                          <a:latin typeface="Times New Roman" panose="02020603050405020304" pitchFamily="18" charset="0"/>
                          <a:cs typeface="Times New Roman" panose="02020603050405020304" pitchFamily="18" charset="0"/>
                        </a:rPr>
                        <a:t> Improves productivity &amp; response time</a:t>
                      </a:r>
                      <a:endParaRPr lang="en-US" altLang="en-GB" sz="17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sz="1700" dirty="0">
                          <a:latin typeface="Times New Roman" panose="02020603050405020304" pitchFamily="18" charset="0"/>
                          <a:cs typeface="Times New Roman" panose="02020603050405020304" pitchFamily="18" charset="0"/>
                        </a:rPr>
                        <a:t> Designed for educational institutions</a:t>
                      </a:r>
                      <a:endParaRPr lang="en-US" altLang="en-GB" sz="17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GB" sz="1700" dirty="0">
                          <a:latin typeface="Times New Roman" panose="02020603050405020304" pitchFamily="18" charset="0"/>
                          <a:cs typeface="Times New Roman" panose="02020603050405020304" pitchFamily="18" charset="0"/>
                        </a:rPr>
                        <a:t> Enhances student interaction experience</a:t>
                      </a:r>
                      <a:endParaRPr lang="en-US" altLang="en-GB" sz="1700" dirty="0">
                        <a:latin typeface="Times New Roman" panose="02020603050405020304" pitchFamily="18" charset="0"/>
                        <a:cs typeface="Times New Roman" panose="02020603050405020304" pitchFamily="18" charset="0"/>
                      </a:endParaRPr>
                    </a:p>
                  </a:txBody>
                  <a:tcPr anchor="ct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GB" altLang="en-US" sz="3200" b="1">
                <a:latin typeface="Times New Roman" panose="02020603050405020304" pitchFamily="18" charset="0"/>
                <a:cs typeface="Times New Roman" panose="02020603050405020304" pitchFamily="18" charset="0"/>
              </a:rPr>
              <a:t>Limitations of Existing Systems</a:t>
            </a:r>
            <a:endParaRPr lang="en-GB" altLang="en-US" sz="3200"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p>
            <a:r>
              <a:rPr lang="en-US" altLang="en-GB" sz="2400">
                <a:latin typeface="Times New Roman" panose="02020603050405020304" pitchFamily="18" charset="0"/>
                <a:cs typeface="Times New Roman" panose="02020603050405020304" pitchFamily="18" charset="0"/>
              </a:rPr>
              <a:t>Mostly rule-based or intent-based — struggle with unseen questions</a:t>
            </a:r>
            <a:r>
              <a:rPr lang="en-GB" altLang="en-US" sz="2400">
                <a:latin typeface="Times New Roman" panose="02020603050405020304" pitchFamily="18" charset="0"/>
                <a:cs typeface="Times New Roman" panose="02020603050405020304" pitchFamily="18" charset="0"/>
              </a:rPr>
              <a:t>.</a:t>
            </a:r>
            <a:endParaRPr lang="en-GB" altLang="en-US" sz="2400">
              <a:latin typeface="Times New Roman" panose="02020603050405020304" pitchFamily="18" charset="0"/>
              <a:cs typeface="Times New Roman" panose="02020603050405020304" pitchFamily="18" charset="0"/>
            </a:endParaRPr>
          </a:p>
          <a:p>
            <a:r>
              <a:rPr lang="en-US" altLang="en-GB" sz="2400">
                <a:latin typeface="Times New Roman" panose="02020603050405020304" pitchFamily="18" charset="0"/>
                <a:cs typeface="Times New Roman" panose="02020603050405020304" pitchFamily="18" charset="0"/>
              </a:rPr>
              <a:t>Limited multilingual support</a:t>
            </a:r>
            <a:endParaRPr lang="en-US" altLang="en-GB" sz="2400">
              <a:latin typeface="Times New Roman" panose="02020603050405020304" pitchFamily="18" charset="0"/>
              <a:cs typeface="Times New Roman" panose="02020603050405020304" pitchFamily="18" charset="0"/>
            </a:endParaRPr>
          </a:p>
          <a:p>
            <a:r>
              <a:rPr lang="en-US" altLang="en-GB" sz="2400">
                <a:latin typeface="Times New Roman" panose="02020603050405020304" pitchFamily="18" charset="0"/>
                <a:cs typeface="Times New Roman" panose="02020603050405020304" pitchFamily="18" charset="0"/>
              </a:rPr>
              <a:t>Static knowledge base (manual updates required)</a:t>
            </a:r>
            <a:endParaRPr lang="en-US" altLang="en-GB" sz="2400">
              <a:latin typeface="Times New Roman" panose="02020603050405020304" pitchFamily="18" charset="0"/>
              <a:cs typeface="Times New Roman" panose="02020603050405020304" pitchFamily="18" charset="0"/>
            </a:endParaRPr>
          </a:p>
          <a:p>
            <a:r>
              <a:rPr lang="en-US" altLang="en-GB" sz="2400">
                <a:latin typeface="Times New Roman" panose="02020603050405020304" pitchFamily="18" charset="0"/>
                <a:cs typeface="Times New Roman" panose="02020603050405020304" pitchFamily="18" charset="0"/>
              </a:rPr>
              <a:t>Weak integration with modern AI models (LLMs / RAG-based systems)</a:t>
            </a:r>
            <a:endParaRPr lang="en-US" altLang="en-GB" sz="2400">
              <a:latin typeface="Times New Roman" panose="02020603050405020304" pitchFamily="18" charset="0"/>
              <a:cs typeface="Times New Roman" panose="02020603050405020304" pitchFamily="18" charset="0"/>
            </a:endParaRPr>
          </a:p>
          <a:p>
            <a:r>
              <a:rPr lang="en-US" altLang="en-GB" sz="2400">
                <a:latin typeface="Times New Roman" panose="02020603050405020304" pitchFamily="18" charset="0"/>
                <a:cs typeface="Times New Roman" panose="02020603050405020304" pitchFamily="18" charset="0"/>
              </a:rPr>
              <a:t>Inaccurate intent classification in edge cases</a:t>
            </a:r>
            <a:endParaRPr lang="en-US" altLang="en-GB" sz="2400">
              <a:latin typeface="Times New Roman" panose="02020603050405020304" pitchFamily="18" charset="0"/>
              <a:cs typeface="Times New Roman" panose="02020603050405020304" pitchFamily="18" charset="0"/>
            </a:endParaRPr>
          </a:p>
          <a:p>
            <a:r>
              <a:rPr lang="en-US" altLang="en-GB" sz="2400">
                <a:latin typeface="Times New Roman" panose="02020603050405020304" pitchFamily="18" charset="0"/>
                <a:cs typeface="Times New Roman" panose="02020603050405020304" pitchFamily="18" charset="0"/>
              </a:rPr>
              <a:t>Limited context awareness</a:t>
            </a:r>
            <a:endParaRPr lang="en-US" altLang="en-GB" sz="2400">
              <a:latin typeface="Times New Roman" panose="02020603050405020304" pitchFamily="18" charset="0"/>
              <a:cs typeface="Times New Roman" panose="02020603050405020304" pitchFamily="18" charset="0"/>
            </a:endParaRPr>
          </a:p>
          <a:p>
            <a:endParaRPr lang="en-US" altLang="en-GB" sz="240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p>
            <a:fld id="{54A0433F-D463-4C6D-93BB-5B095B314A64}" type="slidenum">
              <a:rPr lang="en-IN" smtClean="0"/>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GB" altLang="en-US" sz="3200" b="1">
                <a:latin typeface="Times New Roman" panose="02020603050405020304" pitchFamily="18" charset="0"/>
                <a:cs typeface="Times New Roman" panose="02020603050405020304" pitchFamily="18" charset="0"/>
              </a:rPr>
              <a:t>Problem Statement</a:t>
            </a:r>
            <a:endParaRPr lang="en-GB" altLang="en-US" sz="3200"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p>
            <a:pPr marL="0" indent="0" algn="just">
              <a:buNone/>
            </a:pPr>
            <a:r>
              <a:rPr lang="en-US" altLang="en-GB">
                <a:latin typeface="Times New Roman" panose="02020603050405020304" pitchFamily="18" charset="0"/>
                <a:cs typeface="Times New Roman" panose="02020603050405020304" pitchFamily="18" charset="0"/>
              </a:rPr>
              <a:t>College websites contain large amounts of important information, but students and visitors often struggle to find specific details quickly. They have to navigate through multiple pages or rely on manual support, which can be time-consuming and inefficient. Additionally, providing instant responses to every query through human support is not always possible due to limited availability.</a:t>
            </a:r>
            <a:endParaRPr lang="en-US" altLang="en-GB">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p>
            <a:r>
              <a:rPr lang="en-US"/>
              <a:t>Mini Project Topic Approval </a:t>
            </a:r>
            <a:endParaRPr lang="en-IN"/>
          </a:p>
        </p:txBody>
      </p:sp>
      <p:sp>
        <p:nvSpPr>
          <p:cNvPr id="5" name="Slide Number Placeholder 4"/>
          <p:cNvSpPr>
            <a:spLocks noGrp="1"/>
          </p:cNvSpPr>
          <p:nvPr>
            <p:ph type="sldNum" sz="quarter" idx="12"/>
          </p:nvPr>
        </p:nvSpPr>
        <p:spPr/>
        <p:txBody>
          <a:bodyPr/>
          <a:p>
            <a:fld id="{54A0433F-D463-4C6D-93BB-5B095B314A64}" type="slidenum">
              <a:rPr lang="en-IN" smtClean="0"/>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2620" y="904875"/>
            <a:ext cx="7136130" cy="5631815"/>
          </a:xfrm>
        </p:spPr>
        <p:txBody>
          <a:bodyPr>
            <a:noAutofit/>
          </a:bodyPr>
          <a:lstStyle/>
          <a:p>
            <a:pPr marL="0" indent="0" algn="l">
              <a:buNone/>
            </a:pPr>
            <a:r>
              <a:rPr lang="en-US" altLang="en-GB" sz="2000" dirty="0">
                <a:latin typeface="Times New Roman" panose="02020603050405020304" pitchFamily="18" charset="0"/>
                <a:cs typeface="Times New Roman" panose="02020603050405020304" pitchFamily="18" charset="0"/>
              </a:rPr>
              <a:t>Problems:</a:t>
            </a:r>
            <a:endParaRPr lang="en-US" altLang="en-GB" sz="2000" dirty="0">
              <a:latin typeface="Times New Roman" panose="02020603050405020304" pitchFamily="18" charset="0"/>
              <a:cs typeface="Times New Roman" panose="02020603050405020304" pitchFamily="18" charset="0"/>
            </a:endParaRPr>
          </a:p>
          <a:p>
            <a:pPr algn="l"/>
            <a:r>
              <a:rPr lang="en-US" altLang="en-GB" sz="1800" dirty="0">
                <a:latin typeface="Times New Roman" panose="02020603050405020304" pitchFamily="18" charset="0"/>
                <a:cs typeface="Times New Roman" panose="02020603050405020304" pitchFamily="18" charset="0"/>
              </a:rPr>
              <a:t>Delayed responses to student and parent queries.</a:t>
            </a:r>
            <a:endParaRPr lang="en-US" altLang="en-GB" sz="1800" dirty="0">
              <a:latin typeface="Times New Roman" panose="02020603050405020304" pitchFamily="18" charset="0"/>
              <a:cs typeface="Times New Roman" panose="02020603050405020304" pitchFamily="18" charset="0"/>
            </a:endParaRPr>
          </a:p>
          <a:p>
            <a:pPr algn="l"/>
            <a:r>
              <a:rPr lang="en-US" altLang="en-GB" sz="1800" dirty="0">
                <a:latin typeface="Times New Roman" panose="02020603050405020304" pitchFamily="18" charset="0"/>
                <a:cs typeface="Times New Roman" panose="02020603050405020304" pitchFamily="18" charset="0"/>
              </a:rPr>
              <a:t>Manual handling of repetitive academic and administrative questions.</a:t>
            </a:r>
            <a:endParaRPr lang="en-US" altLang="en-GB" sz="1800" dirty="0">
              <a:latin typeface="Times New Roman" panose="02020603050405020304" pitchFamily="18" charset="0"/>
              <a:cs typeface="Times New Roman" panose="02020603050405020304" pitchFamily="18" charset="0"/>
            </a:endParaRPr>
          </a:p>
          <a:p>
            <a:pPr algn="l"/>
            <a:r>
              <a:rPr lang="en-US" altLang="en-GB" sz="1800" dirty="0">
                <a:latin typeface="Times New Roman" panose="02020603050405020304" pitchFamily="18" charset="0"/>
                <a:cs typeface="Times New Roman" panose="02020603050405020304" pitchFamily="18" charset="0"/>
              </a:rPr>
              <a:t>Difficulty in accessing updated circulars, timetables, and admission information.</a:t>
            </a:r>
            <a:endParaRPr lang="en-US" altLang="en-GB" sz="1800" dirty="0">
              <a:latin typeface="Times New Roman" panose="02020603050405020304" pitchFamily="18" charset="0"/>
              <a:cs typeface="Times New Roman" panose="02020603050405020304" pitchFamily="18" charset="0"/>
            </a:endParaRPr>
          </a:p>
          <a:p>
            <a:pPr algn="l"/>
            <a:endParaRPr lang="en-US" altLang="en-GB" sz="1800" dirty="0">
              <a:latin typeface="Times New Roman" panose="02020603050405020304" pitchFamily="18" charset="0"/>
              <a:cs typeface="Times New Roman" panose="02020603050405020304" pitchFamily="18" charset="0"/>
            </a:endParaRPr>
          </a:p>
          <a:p>
            <a:pPr marL="0" indent="0" algn="l">
              <a:buNone/>
            </a:pPr>
            <a:r>
              <a:rPr lang="en-US" altLang="en-GB" sz="2000" dirty="0">
                <a:latin typeface="Times New Roman" panose="02020603050405020304" pitchFamily="18" charset="0"/>
                <a:cs typeface="Times New Roman" panose="02020603050405020304" pitchFamily="18" charset="0"/>
              </a:rPr>
              <a:t>Proposed Idea:</a:t>
            </a:r>
            <a:r>
              <a:rPr lang="en-GB" altLang="en-US" sz="2000" dirty="0">
                <a:latin typeface="Times New Roman" panose="02020603050405020304" pitchFamily="18" charset="0"/>
                <a:cs typeface="Times New Roman" panose="02020603050405020304" pitchFamily="18" charset="0"/>
              </a:rPr>
              <a:t>AI-Powered Chatbot for College Website Assitance</a:t>
            </a:r>
            <a:endParaRPr lang="en-US" altLang="en-GB" sz="1800" dirty="0">
              <a:latin typeface="Times New Roman" panose="02020603050405020304" pitchFamily="18" charset="0"/>
              <a:cs typeface="Times New Roman" panose="02020603050405020304" pitchFamily="18" charset="0"/>
            </a:endParaRPr>
          </a:p>
          <a:p>
            <a:pPr algn="l"/>
            <a:r>
              <a:rPr lang="en-US" altLang="en-GB" sz="1800" dirty="0">
                <a:latin typeface="Times New Roman" panose="02020603050405020304" pitchFamily="18" charset="0"/>
                <a:cs typeface="Times New Roman" panose="02020603050405020304" pitchFamily="18" charset="0"/>
              </a:rPr>
              <a:t>An AI-powered chatbot integrated into the college website.</a:t>
            </a:r>
            <a:endParaRPr lang="en-US" altLang="en-GB" sz="1800" dirty="0">
              <a:latin typeface="Times New Roman" panose="02020603050405020304" pitchFamily="18" charset="0"/>
              <a:cs typeface="Times New Roman" panose="02020603050405020304" pitchFamily="18" charset="0"/>
            </a:endParaRPr>
          </a:p>
          <a:p>
            <a:pPr algn="l"/>
            <a:r>
              <a:rPr lang="en-US" altLang="en-GB" sz="1800" dirty="0">
                <a:latin typeface="Times New Roman" panose="02020603050405020304" pitchFamily="18" charset="0"/>
                <a:cs typeface="Times New Roman" panose="02020603050405020304" pitchFamily="18" charset="0"/>
              </a:rPr>
              <a:t>Provides real-time responses using live institutional data sources.</a:t>
            </a:r>
            <a:endParaRPr lang="en-US" altLang="en-GB" sz="1800" dirty="0">
              <a:latin typeface="Times New Roman" panose="02020603050405020304" pitchFamily="18" charset="0"/>
              <a:cs typeface="Times New Roman" panose="02020603050405020304" pitchFamily="18" charset="0"/>
            </a:endParaRPr>
          </a:p>
          <a:p>
            <a:pPr algn="l"/>
            <a:r>
              <a:rPr lang="en-US" altLang="en-GB" sz="1800" dirty="0">
                <a:latin typeface="Times New Roman" panose="02020603050405020304" pitchFamily="18" charset="0"/>
                <a:cs typeface="Times New Roman" panose="02020603050405020304" pitchFamily="18" charset="0"/>
              </a:rPr>
              <a:t>Supports multilingual interaction for wider accessibility.</a:t>
            </a:r>
            <a:endParaRPr lang="en-US" altLang="en-GB" sz="1800" dirty="0">
              <a:latin typeface="Times New Roman" panose="02020603050405020304" pitchFamily="18" charset="0"/>
              <a:cs typeface="Times New Roman" panose="02020603050405020304" pitchFamily="18" charset="0"/>
            </a:endParaRPr>
          </a:p>
          <a:p>
            <a:pPr algn="l"/>
            <a:endParaRPr lang="en-US" altLang="en-GB" sz="1800" dirty="0">
              <a:latin typeface="Times New Roman" panose="02020603050405020304" pitchFamily="18" charset="0"/>
              <a:cs typeface="Times New Roman" panose="02020603050405020304" pitchFamily="18" charset="0"/>
            </a:endParaRPr>
          </a:p>
          <a:p>
            <a:pPr marL="0" indent="0" algn="l">
              <a:buNone/>
            </a:pPr>
            <a:r>
              <a:rPr lang="en-US" altLang="en-GB" sz="2000" dirty="0">
                <a:latin typeface="Times New Roman" panose="02020603050405020304" pitchFamily="18" charset="0"/>
                <a:cs typeface="Times New Roman" panose="02020603050405020304" pitchFamily="18" charset="0"/>
              </a:rPr>
              <a:t>Innovation &amp; Uniqueness:</a:t>
            </a:r>
            <a:endParaRPr lang="en-US" altLang="en-GB" sz="1800" dirty="0">
              <a:latin typeface="Times New Roman" panose="02020603050405020304" pitchFamily="18" charset="0"/>
              <a:cs typeface="Times New Roman" panose="02020603050405020304" pitchFamily="18" charset="0"/>
            </a:endParaRPr>
          </a:p>
          <a:p>
            <a:pPr algn="l"/>
            <a:r>
              <a:rPr lang="en-US" altLang="en-GB" sz="1800" dirty="0">
                <a:latin typeface="Times New Roman" panose="02020603050405020304" pitchFamily="18" charset="0"/>
                <a:cs typeface="Times New Roman" panose="02020603050405020304" pitchFamily="18" charset="0"/>
              </a:rPr>
              <a:t>Uses semantic search instead of keyword-based search.</a:t>
            </a:r>
            <a:endParaRPr lang="en-US" altLang="en-GB" sz="1800" dirty="0">
              <a:latin typeface="Times New Roman" panose="02020603050405020304" pitchFamily="18" charset="0"/>
              <a:cs typeface="Times New Roman" panose="02020603050405020304" pitchFamily="18" charset="0"/>
            </a:endParaRPr>
          </a:p>
          <a:p>
            <a:pPr algn="l"/>
            <a:r>
              <a:rPr lang="en-US" altLang="en-GB" sz="1800" dirty="0">
                <a:latin typeface="Times New Roman" panose="02020603050405020304" pitchFamily="18" charset="0"/>
                <a:cs typeface="Times New Roman" panose="02020603050405020304" pitchFamily="18" charset="0"/>
              </a:rPr>
              <a:t>Leverages advanced Large Language Models (LLMs) with contextual understanding for more accurate and dynamic query interpretation.</a:t>
            </a:r>
            <a:endParaRPr lang="en-US" altLang="en-GB" sz="1800" dirty="0">
              <a:latin typeface="Times New Roman" panose="02020603050405020304" pitchFamily="18" charset="0"/>
              <a:cs typeface="Times New Roman" panose="02020603050405020304" pitchFamily="18" charset="0"/>
            </a:endParaRPr>
          </a:p>
          <a:p>
            <a:pPr algn="l"/>
            <a:r>
              <a:rPr lang="en-US" altLang="en-GB" sz="1800" dirty="0">
                <a:latin typeface="Times New Roman" panose="02020603050405020304" pitchFamily="18" charset="0"/>
                <a:cs typeface="Times New Roman" panose="02020603050405020304" pitchFamily="18" charset="0"/>
              </a:rPr>
              <a:t>Delivers intelligent, real-time 24</a:t>
            </a:r>
            <a:r>
              <a:rPr lang="en-US" altLang="en-US" sz="1800" dirty="0">
                <a:latin typeface="Times New Roman" panose="02020603050405020304" pitchFamily="18" charset="0"/>
                <a:cs typeface="Times New Roman" panose="02020603050405020304" pitchFamily="18" charset="0"/>
              </a:rPr>
              <a:t>×</a:t>
            </a:r>
            <a:r>
              <a:rPr lang="en-US" altLang="en-GB" sz="1800" dirty="0">
                <a:latin typeface="Times New Roman" panose="02020603050405020304" pitchFamily="18" charset="0"/>
                <a:cs typeface="Times New Roman" panose="02020603050405020304" pitchFamily="18" charset="0"/>
              </a:rPr>
              <a:t>7 automated support with adaptive learning and seamless information retrieval.</a:t>
            </a:r>
            <a:endParaRPr lang="en-US" altLang="en-GB" sz="1800" dirty="0">
              <a:latin typeface="Times New Roman" panose="02020603050405020304" pitchFamily="18" charset="0"/>
              <a:cs typeface="Times New Roman" panose="02020603050405020304" pitchFamily="18" charset="0"/>
            </a:endParaRPr>
          </a:p>
          <a:p>
            <a:endParaRPr lang="en-US" altLang="en-GB" sz="1800" dirty="0">
              <a:latin typeface="Times New Roman" panose="02020603050405020304" pitchFamily="18" charset="0"/>
              <a:cs typeface="Times New Roman" panose="02020603050405020304" pitchFamily="18" charset="0"/>
            </a:endParaRPr>
          </a:p>
        </p:txBody>
      </p:sp>
      <p:sp>
        <p:nvSpPr>
          <p:cNvPr id="5" name="Title 7"/>
          <p:cNvSpPr txBox="1"/>
          <p:nvPr/>
        </p:nvSpPr>
        <p:spPr>
          <a:xfrm>
            <a:off x="538252" y="117896"/>
            <a:ext cx="10894143" cy="786708"/>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400" dirty="0"/>
              <a:t>	</a:t>
            </a:r>
            <a:br>
              <a:rPr lang="en-IN" sz="2400" dirty="0"/>
            </a:br>
            <a:r>
              <a:rPr lang="en-US" sz="3600" b="1" dirty="0">
                <a:latin typeface="Times New Roman" panose="02020603050405020304" pitchFamily="18" charset="0"/>
                <a:cs typeface="Times New Roman" panose="02020603050405020304" pitchFamily="18" charset="0"/>
              </a:rPr>
              <a:t>Proposed Solution</a:t>
            </a:r>
            <a:endParaRPr lang="en-IN" sz="36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54A0433F-D463-4C6D-93BB-5B095B314A64}" type="slidenum">
              <a:rPr lang="en-IN" smtClean="0"/>
            </a:fld>
            <a:endParaRPr lang="en-IN"/>
          </a:p>
        </p:txBody>
      </p:sp>
      <p:pic>
        <p:nvPicPr>
          <p:cNvPr id="8" name="Picture 7"/>
          <p:cNvPicPr>
            <a:picLocks noChangeAspect="1"/>
          </p:cNvPicPr>
          <p:nvPr/>
        </p:nvPicPr>
        <p:blipFill>
          <a:blip r:embed="rId1"/>
          <a:stretch>
            <a:fillRect/>
          </a:stretch>
        </p:blipFill>
        <p:spPr>
          <a:xfrm>
            <a:off x="7921625" y="86995"/>
            <a:ext cx="412178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9374" y="155247"/>
            <a:ext cx="10515600" cy="834409"/>
          </a:xfrm>
        </p:spPr>
        <p:txBody>
          <a:bodyPr>
            <a:normAutofit/>
          </a:bodyPr>
          <a:lstStyle/>
          <a:p>
            <a:pPr algn="l"/>
            <a:r>
              <a:rPr lang="en-US" altLang="en-GB" sz="3200" b="1" dirty="0">
                <a:latin typeface="Times New Roman" panose="02020603050405020304" pitchFamily="18" charset="0"/>
                <a:cs typeface="Times New Roman" panose="02020603050405020304" pitchFamily="18" charset="0"/>
              </a:rPr>
              <a:t>Experimental Setup</a:t>
            </a:r>
            <a:endParaRPr lang="en-US" altLang="en-GB"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883920"/>
            <a:ext cx="10515600" cy="5381625"/>
          </a:xfrm>
        </p:spPr>
        <p:txBody>
          <a:bodyPr>
            <a:noAutofit/>
          </a:bodyPr>
          <a:lstStyle/>
          <a:p>
            <a:pPr marL="0" indent="0">
              <a:buNone/>
            </a:pPr>
            <a:r>
              <a:rPr lang="en-US" altLang="en-GB" sz="2000" dirty="0">
                <a:latin typeface="Times New Roman" panose="02020603050405020304" pitchFamily="18" charset="0"/>
                <a:cs typeface="Times New Roman" panose="02020603050405020304" pitchFamily="18" charset="0"/>
              </a:rPr>
              <a:t>Frontend:</a:t>
            </a:r>
            <a:endParaRPr lang="en-US" altLang="en-GB" sz="2000" dirty="0">
              <a:latin typeface="Times New Roman" panose="02020603050405020304" pitchFamily="18" charset="0"/>
              <a:cs typeface="Times New Roman" panose="02020603050405020304" pitchFamily="18" charset="0"/>
            </a:endParaRPr>
          </a:p>
          <a:p>
            <a:r>
              <a:rPr lang="en-US" altLang="en-GB" sz="2000" dirty="0">
                <a:latin typeface="Times New Roman" panose="02020603050405020304" pitchFamily="18" charset="0"/>
                <a:cs typeface="Times New Roman" panose="02020603050405020304" pitchFamily="18" charset="0"/>
              </a:rPr>
              <a:t>React.js: Builds interactive chatbot interface.</a:t>
            </a:r>
            <a:endParaRPr lang="en-US" altLang="en-GB" sz="2000" dirty="0">
              <a:latin typeface="Times New Roman" panose="02020603050405020304" pitchFamily="18" charset="0"/>
              <a:cs typeface="Times New Roman" panose="02020603050405020304" pitchFamily="18" charset="0"/>
            </a:endParaRPr>
          </a:p>
          <a:p>
            <a:r>
              <a:rPr lang="en-US" altLang="en-GB" sz="2000" dirty="0">
                <a:latin typeface="Times New Roman" panose="02020603050405020304" pitchFamily="18" charset="0"/>
                <a:cs typeface="Times New Roman" panose="02020603050405020304" pitchFamily="18" charset="0"/>
              </a:rPr>
              <a:t>TypeScript: Ensures type safety and maintainable code.</a:t>
            </a:r>
            <a:endParaRPr lang="en-US" altLang="en-GB" sz="2000" dirty="0">
              <a:latin typeface="Times New Roman" panose="02020603050405020304" pitchFamily="18" charset="0"/>
              <a:cs typeface="Times New Roman" panose="02020603050405020304" pitchFamily="18" charset="0"/>
            </a:endParaRPr>
          </a:p>
          <a:p>
            <a:r>
              <a:rPr lang="en-US" altLang="en-GB" sz="2000" dirty="0">
                <a:latin typeface="Times New Roman" panose="02020603050405020304" pitchFamily="18" charset="0"/>
                <a:cs typeface="Times New Roman" panose="02020603050405020304" pitchFamily="18" charset="0"/>
              </a:rPr>
              <a:t>Axios/Fetch API: Handles API communication with backend.</a:t>
            </a:r>
            <a:endParaRPr lang="en-US" altLang="en-GB" sz="2000" dirty="0">
              <a:latin typeface="Times New Roman" panose="02020603050405020304" pitchFamily="18" charset="0"/>
              <a:cs typeface="Times New Roman" panose="02020603050405020304" pitchFamily="18" charset="0"/>
            </a:endParaRPr>
          </a:p>
          <a:p>
            <a:r>
              <a:rPr lang="en-GB" altLang="en-US" sz="2000" dirty="0">
                <a:latin typeface="Times New Roman" panose="02020603050405020304" pitchFamily="18" charset="0"/>
                <a:cs typeface="Times New Roman" panose="02020603050405020304" pitchFamily="18" charset="0"/>
              </a:rPr>
              <a:t>Next.js</a:t>
            </a:r>
            <a:r>
              <a:rPr lang="en-US" altLang="en-GB" sz="2000" dirty="0">
                <a:latin typeface="Times New Roman" panose="02020603050405020304" pitchFamily="18" charset="0"/>
                <a:cs typeface="Times New Roman" panose="02020603050405020304" pitchFamily="18" charset="0"/>
              </a:rPr>
              <a:t>: Provides smooth multi-device interaction.</a:t>
            </a:r>
            <a:endParaRPr lang="en-US" altLang="en-GB" sz="2000" dirty="0">
              <a:latin typeface="Times New Roman" panose="02020603050405020304" pitchFamily="18" charset="0"/>
              <a:cs typeface="Times New Roman" panose="02020603050405020304" pitchFamily="18" charset="0"/>
            </a:endParaRPr>
          </a:p>
          <a:p>
            <a:pPr marL="0" indent="0">
              <a:buNone/>
            </a:pPr>
            <a:r>
              <a:rPr lang="en-US" altLang="en-GB" sz="2000" dirty="0">
                <a:latin typeface="Times New Roman" panose="02020603050405020304" pitchFamily="18" charset="0"/>
                <a:cs typeface="Times New Roman" panose="02020603050405020304" pitchFamily="18" charset="0"/>
              </a:rPr>
              <a:t>Backend:</a:t>
            </a:r>
            <a:endParaRPr lang="en-US" altLang="en-GB" sz="2000" dirty="0">
              <a:latin typeface="Times New Roman" panose="02020603050405020304" pitchFamily="18" charset="0"/>
              <a:cs typeface="Times New Roman" panose="02020603050405020304" pitchFamily="18" charset="0"/>
            </a:endParaRPr>
          </a:p>
          <a:p>
            <a:r>
              <a:rPr lang="en-US" altLang="en-GB" sz="2000" dirty="0">
                <a:latin typeface="Times New Roman" panose="02020603050405020304" pitchFamily="18" charset="0"/>
                <a:cs typeface="Times New Roman" panose="02020603050405020304" pitchFamily="18" charset="0"/>
              </a:rPr>
              <a:t>Python: Core backend programming language.</a:t>
            </a:r>
            <a:endParaRPr lang="en-US" altLang="en-GB" sz="2000" dirty="0">
              <a:latin typeface="Times New Roman" panose="02020603050405020304" pitchFamily="18" charset="0"/>
              <a:cs typeface="Times New Roman" panose="02020603050405020304" pitchFamily="18" charset="0"/>
            </a:endParaRPr>
          </a:p>
          <a:p>
            <a:r>
              <a:rPr lang="en-US" altLang="en-GB" sz="2000" dirty="0">
                <a:latin typeface="Times New Roman" panose="02020603050405020304" pitchFamily="18" charset="0"/>
                <a:cs typeface="Times New Roman" panose="02020603050405020304" pitchFamily="18" charset="0"/>
              </a:rPr>
              <a:t>FastAPI: High-performance API framework for handling requests.</a:t>
            </a:r>
            <a:endParaRPr lang="en-US" altLang="en-GB" sz="2000" dirty="0">
              <a:latin typeface="Times New Roman" panose="02020603050405020304" pitchFamily="18" charset="0"/>
              <a:cs typeface="Times New Roman" panose="02020603050405020304" pitchFamily="18" charset="0"/>
            </a:endParaRPr>
          </a:p>
          <a:p>
            <a:r>
              <a:rPr lang="en-US" altLang="en-GB" sz="2000" dirty="0">
                <a:latin typeface="Times New Roman" panose="02020603050405020304" pitchFamily="18" charset="0"/>
                <a:cs typeface="Times New Roman" panose="02020603050405020304" pitchFamily="18" charset="0"/>
              </a:rPr>
              <a:t>Google GenAI (Gemini):Embedding generation</a:t>
            </a:r>
            <a:r>
              <a:rPr lang="en-GB" altLang="en-US" sz="2000" dirty="0">
                <a:latin typeface="Times New Roman" panose="02020603050405020304" pitchFamily="18" charset="0"/>
                <a:cs typeface="Times New Roman" panose="02020603050405020304" pitchFamily="18" charset="0"/>
              </a:rPr>
              <a:t>,</a:t>
            </a:r>
            <a:r>
              <a:rPr lang="en-US" altLang="en-GB" sz="2000" dirty="0">
                <a:latin typeface="Times New Roman" panose="02020603050405020304" pitchFamily="18" charset="0"/>
                <a:cs typeface="Times New Roman" panose="02020603050405020304" pitchFamily="18" charset="0"/>
              </a:rPr>
              <a:t>Context-aware response generation (LLM)</a:t>
            </a:r>
            <a:endParaRPr lang="en-US" altLang="en-GB" sz="2000" dirty="0">
              <a:latin typeface="Times New Roman" panose="02020603050405020304" pitchFamily="18" charset="0"/>
              <a:cs typeface="Times New Roman" panose="02020603050405020304" pitchFamily="18" charset="0"/>
            </a:endParaRPr>
          </a:p>
          <a:p>
            <a:r>
              <a:rPr lang="en-US" altLang="en-GB" sz="2000" dirty="0">
                <a:latin typeface="Times New Roman" panose="02020603050405020304" pitchFamily="18" charset="0"/>
                <a:cs typeface="Times New Roman" panose="02020603050405020304" pitchFamily="18" charset="0"/>
              </a:rPr>
              <a:t>Qdrant Cloud: Vector database for semantic similarity search.</a:t>
            </a:r>
            <a:endParaRPr lang="en-US" altLang="en-GB" sz="2000" dirty="0">
              <a:latin typeface="Times New Roman" panose="02020603050405020304" pitchFamily="18" charset="0"/>
              <a:cs typeface="Times New Roman" panose="02020603050405020304" pitchFamily="18" charset="0"/>
            </a:endParaRPr>
          </a:p>
          <a:p>
            <a:r>
              <a:rPr lang="en-US" altLang="en-GB" sz="2000" dirty="0">
                <a:latin typeface="Times New Roman" panose="02020603050405020304" pitchFamily="18" charset="0"/>
                <a:cs typeface="Times New Roman" panose="02020603050405020304" pitchFamily="18" charset="0"/>
              </a:rPr>
              <a:t>RAG Pipeline: Retrieval-Augmented Generation for accurate responses.</a:t>
            </a:r>
            <a:endParaRPr lang="en-US" altLang="en-GB" sz="2000" dirty="0">
              <a:latin typeface="Times New Roman" panose="02020603050405020304" pitchFamily="18" charset="0"/>
              <a:cs typeface="Times New Roman" panose="02020603050405020304" pitchFamily="18" charset="0"/>
            </a:endParaRPr>
          </a:p>
          <a:p>
            <a:r>
              <a:rPr lang="en-US" altLang="en-GB" sz="2000" dirty="0">
                <a:latin typeface="Times New Roman" panose="02020603050405020304" pitchFamily="18" charset="0"/>
                <a:cs typeface="Times New Roman" panose="02020603050405020304" pitchFamily="18" charset="0"/>
              </a:rPr>
              <a:t>Web Crawler &amp; Document Extractor: Automated ingestion of website and PDFs.</a:t>
            </a:r>
            <a:endParaRPr lang="en-US" altLang="en-GB" sz="2000" dirty="0">
              <a:latin typeface="Times New Roman" panose="02020603050405020304" pitchFamily="18" charset="0"/>
              <a:cs typeface="Times New Roman" panose="02020603050405020304" pitchFamily="18" charset="0"/>
            </a:endParaRPr>
          </a:p>
          <a:p>
            <a:pPr marL="0" indent="0">
              <a:buNone/>
            </a:pPr>
            <a:r>
              <a:rPr lang="en-US" altLang="en-GB" sz="2000">
                <a:latin typeface="Times New Roman" panose="02020603050405020304" pitchFamily="18" charset="0"/>
                <a:cs typeface="Times New Roman" panose="02020603050405020304" pitchFamily="18" charset="0"/>
                <a:sym typeface="+mn-ea"/>
              </a:rPr>
              <a:t>Database &amp; Storage:</a:t>
            </a:r>
            <a:endParaRPr lang="en-US" altLang="en-GB" sz="2000">
              <a:latin typeface="Times New Roman" panose="02020603050405020304" pitchFamily="18" charset="0"/>
              <a:cs typeface="Times New Roman" panose="02020603050405020304" pitchFamily="18" charset="0"/>
            </a:endParaRPr>
          </a:p>
          <a:p>
            <a:r>
              <a:rPr lang="en-US" altLang="en-GB" sz="2000">
                <a:latin typeface="Times New Roman" panose="02020603050405020304" pitchFamily="18" charset="0"/>
                <a:cs typeface="Times New Roman" panose="02020603050405020304" pitchFamily="18" charset="0"/>
                <a:sym typeface="+mn-ea"/>
              </a:rPr>
              <a:t>Qdrant Vector Database: Stores vector embeddings.</a:t>
            </a:r>
            <a:endParaRPr lang="en-US" altLang="en-GB" sz="2000">
              <a:latin typeface="Times New Roman" panose="02020603050405020304" pitchFamily="18" charset="0"/>
              <a:cs typeface="Times New Roman" panose="02020603050405020304" pitchFamily="18" charset="0"/>
            </a:endParaRPr>
          </a:p>
          <a:p>
            <a:r>
              <a:rPr lang="en-US" altLang="en-GB" sz="2000">
                <a:latin typeface="Times New Roman" panose="02020603050405020304" pitchFamily="18" charset="0"/>
                <a:cs typeface="Times New Roman" panose="02020603050405020304" pitchFamily="18" charset="0"/>
                <a:sym typeface="+mn-ea"/>
              </a:rPr>
              <a:t>Cloud Deployment (Railway / Cloud Platform): Scalable hosting environment.</a:t>
            </a:r>
            <a:endParaRPr lang="en-US" altLang="en-GB" sz="2000">
              <a:latin typeface="Times New Roman" panose="02020603050405020304" pitchFamily="18" charset="0"/>
              <a:cs typeface="Times New Roman" panose="02020603050405020304" pitchFamily="18" charset="0"/>
            </a:endParaRPr>
          </a:p>
          <a:p>
            <a:endParaRPr lang="en-US" altLang="en-GB" sz="2000" dirty="0">
              <a:latin typeface="Times New Roman" panose="02020603050405020304" pitchFamily="18" charset="0"/>
              <a:cs typeface="Times New Roman" panose="02020603050405020304" pitchFamily="18" charset="0"/>
            </a:endParaRPr>
          </a:p>
          <a:p>
            <a:endParaRPr lang="en-US" altLang="en-GB" sz="2000" dirty="0">
              <a:latin typeface="Times New Roman" panose="02020603050405020304" pitchFamily="18" charset="0"/>
              <a:cs typeface="Times New Roman" panose="02020603050405020304" pitchFamily="18" charset="0"/>
            </a:endParaRPr>
          </a:p>
          <a:p>
            <a:endParaRPr lang="en-US" altLang="en-GB" sz="20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54A0433F-D463-4C6D-93BB-5B095B314A64}" type="slidenum">
              <a:rPr lang="en-IN" smtClean="0"/>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GB" altLang="en-US" sz="3200" b="1">
                <a:latin typeface="Times New Roman" panose="02020603050405020304" pitchFamily="18" charset="0"/>
                <a:cs typeface="Times New Roman" panose="02020603050405020304" pitchFamily="18" charset="0"/>
              </a:rPr>
              <a:t>Implementation</a:t>
            </a:r>
            <a:endParaRPr lang="en-GB" altLang="en-US" sz="3200"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p>
            <a:endParaRPr lang="en-GB" altLang="en-US"/>
          </a:p>
        </p:txBody>
      </p:sp>
      <p:sp>
        <p:nvSpPr>
          <p:cNvPr id="4" name="Footer Placeholder 3"/>
          <p:cNvSpPr>
            <a:spLocks noGrp="1"/>
          </p:cNvSpPr>
          <p:nvPr>
            <p:ph type="ftr" sz="quarter" idx="11"/>
          </p:nvPr>
        </p:nvSpPr>
        <p:spPr/>
        <p:txBody>
          <a:bodyPr/>
          <a:p>
            <a:r>
              <a:rPr lang="en-US"/>
              <a:t>Mini Project Topic Approval </a:t>
            </a:r>
            <a:endParaRPr lang="en-IN"/>
          </a:p>
        </p:txBody>
      </p:sp>
      <p:sp>
        <p:nvSpPr>
          <p:cNvPr id="5" name="Slide Number Placeholder 4"/>
          <p:cNvSpPr>
            <a:spLocks noGrp="1"/>
          </p:cNvSpPr>
          <p:nvPr>
            <p:ph type="sldNum" sz="quarter" idx="12"/>
          </p:nvPr>
        </p:nvSpPr>
        <p:spPr/>
        <p:txBody>
          <a:bodyPr/>
          <a:p>
            <a:fld id="{54A0433F-D463-4C6D-93BB-5B095B314A64}" type="slidenum">
              <a:rPr lang="en-IN" smtClean="0"/>
            </a:fld>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GB" altLang="en-US" sz="3200" b="1">
                <a:latin typeface="Times New Roman" panose="02020603050405020304" pitchFamily="18" charset="0"/>
                <a:cs typeface="Times New Roman" panose="02020603050405020304" pitchFamily="18" charset="0"/>
              </a:rPr>
              <a:t>Conclusion</a:t>
            </a:r>
            <a:endParaRPr lang="en-GB" altLang="en-US" sz="3200"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p>
            <a:r>
              <a:rPr lang="en-US" altLang="en-GB" sz="2000">
                <a:latin typeface="Times New Roman" panose="02020603050405020304" pitchFamily="18" charset="0"/>
                <a:cs typeface="Times New Roman" panose="02020603050405020304" pitchFamily="18" charset="0"/>
              </a:rPr>
              <a:t>The proposed AI-powered College Enquiry Assistant enhances student interaction by leveraging Retrieval-Augmented Generation (RAG) architecture for accurate and context-aware responses. It eliminates reliance on rigid rule-based systems by integrating semantic search with Large Language Models.</a:t>
            </a:r>
            <a:endParaRPr lang="en-US" altLang="en-GB" sz="2000">
              <a:latin typeface="Times New Roman" panose="02020603050405020304" pitchFamily="18" charset="0"/>
              <a:cs typeface="Times New Roman" panose="02020603050405020304" pitchFamily="18" charset="0"/>
            </a:endParaRPr>
          </a:p>
          <a:p>
            <a:endParaRPr lang="en-US" altLang="en-GB" sz="2000">
              <a:latin typeface="Times New Roman" panose="02020603050405020304" pitchFamily="18" charset="0"/>
              <a:cs typeface="Times New Roman" panose="02020603050405020304" pitchFamily="18" charset="0"/>
            </a:endParaRPr>
          </a:p>
          <a:p>
            <a:r>
              <a:rPr lang="en-US" altLang="en-GB" sz="2000">
                <a:latin typeface="Times New Roman" panose="02020603050405020304" pitchFamily="18" charset="0"/>
                <a:cs typeface="Times New Roman" panose="02020603050405020304" pitchFamily="18" charset="0"/>
              </a:rPr>
              <a:t>The system efficiently processes institutional data through automated crawling, embedding generation using Gemini, and vector storage in Qdrant, enabling intelligent real-time information retrieval.</a:t>
            </a:r>
            <a:endParaRPr lang="en-US" altLang="en-GB" sz="2000">
              <a:latin typeface="Times New Roman" panose="02020603050405020304" pitchFamily="18" charset="0"/>
              <a:cs typeface="Times New Roman" panose="02020603050405020304" pitchFamily="18" charset="0"/>
            </a:endParaRPr>
          </a:p>
          <a:p>
            <a:endParaRPr lang="en-US" altLang="en-GB" sz="2000">
              <a:latin typeface="Times New Roman" panose="02020603050405020304" pitchFamily="18" charset="0"/>
              <a:cs typeface="Times New Roman" panose="02020603050405020304" pitchFamily="18" charset="0"/>
            </a:endParaRPr>
          </a:p>
          <a:p>
            <a:r>
              <a:rPr lang="en-US" altLang="en-GB" sz="2000">
                <a:latin typeface="Times New Roman" panose="02020603050405020304" pitchFamily="18" charset="0"/>
                <a:cs typeface="Times New Roman" panose="02020603050405020304" pitchFamily="18" charset="0"/>
              </a:rPr>
              <a:t>Overall, the project delivers a scalable, dynamic, and intelligent solution that provides 24</a:t>
            </a:r>
            <a:r>
              <a:rPr lang="en-US" altLang="en-US" sz="2000">
                <a:latin typeface="Times New Roman" panose="02020603050405020304" pitchFamily="18" charset="0"/>
                <a:cs typeface="Times New Roman" panose="02020603050405020304" pitchFamily="18" charset="0"/>
              </a:rPr>
              <a:t>×</a:t>
            </a:r>
            <a:r>
              <a:rPr lang="en-US" altLang="en-GB" sz="2000">
                <a:latin typeface="Times New Roman" panose="02020603050405020304" pitchFamily="18" charset="0"/>
                <a:cs typeface="Times New Roman" panose="02020603050405020304" pitchFamily="18" charset="0"/>
              </a:rPr>
              <a:t>7 automated support, improves user experience, and reduces manual workload in educational institutions</a:t>
            </a:r>
            <a:endParaRPr lang="en-US" altLang="en-GB" sz="200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p>
            <a:r>
              <a:rPr lang="en-US"/>
              <a:t>Mini Project Topic Approval </a:t>
            </a:r>
            <a:endParaRPr lang="en-IN"/>
          </a:p>
        </p:txBody>
      </p:sp>
      <p:sp>
        <p:nvSpPr>
          <p:cNvPr id="5" name="Slide Number Placeholder 4"/>
          <p:cNvSpPr>
            <a:spLocks noGrp="1"/>
          </p:cNvSpPr>
          <p:nvPr>
            <p:ph type="sldNum" sz="quarter" idx="12"/>
          </p:nvPr>
        </p:nvSpPr>
        <p:spPr/>
        <p:txBody>
          <a:bodyPr/>
          <a:p>
            <a:fld id="{54A0433F-D463-4C6D-93BB-5B095B314A64}" type="slidenum">
              <a:rPr lang="en-IN" smtClean="0"/>
            </a:fld>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latin typeface="Times New Roman" panose="02020603050405020304" pitchFamily="18" charset="0"/>
                <a:cs typeface="Times New Roman" panose="02020603050405020304" pitchFamily="18" charset="0"/>
              </a:rPr>
              <a:t>Research and References</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40000"/>
          </a:bodyPr>
          <a:lstStyle/>
          <a:p>
            <a:r>
              <a:rPr lang="en-US" altLang="en-GB" dirty="0">
                <a:latin typeface="Times New Roman" panose="02020603050405020304" pitchFamily="18" charset="0"/>
                <a:cs typeface="Times New Roman" panose="02020603050405020304" pitchFamily="18" charset="0"/>
              </a:rPr>
              <a:t>R. Parkar, Y. Payare, K. Mithari, J. Nambiar and J. Gupta, "AI And Web-Based Interactive College Enquiry Chatbot," 2021 13th International Conference on Electronics, Computers and Artificial Intelligence (ECAI), Pitesti, Romania, 2021, pp. 1-5, doi: 10.1109/ECAI52376.2021.9515065. keywords: {Training;Tongue;Terminology;Social networking (online);Tutorials;Speech recognition;Chatbots;Artificial Intelligence;Machine Learning;Chatbot;Natural Language;GUI},</a:t>
            </a:r>
            <a:endParaRPr lang="en-US" altLang="en-GB" dirty="0">
              <a:latin typeface="Times New Roman" panose="02020603050405020304" pitchFamily="18" charset="0"/>
              <a:cs typeface="Times New Roman" panose="02020603050405020304" pitchFamily="18" charset="0"/>
            </a:endParaRPr>
          </a:p>
          <a:p>
            <a:endParaRPr lang="en-US" altLang="en-GB" dirty="0">
              <a:latin typeface="Times New Roman" panose="02020603050405020304" pitchFamily="18" charset="0"/>
              <a:cs typeface="Times New Roman" panose="02020603050405020304" pitchFamily="18" charset="0"/>
            </a:endParaRPr>
          </a:p>
          <a:p>
            <a:r>
              <a:rPr lang="en-US" altLang="en-GB" dirty="0">
                <a:latin typeface="Times New Roman" panose="02020603050405020304" pitchFamily="18" charset="0"/>
                <a:cs typeface="Times New Roman" panose="02020603050405020304" pitchFamily="18" charset="0"/>
              </a:rPr>
              <a:t>N. Bhardwaj, S. K. H, A. D and R. M, "AI Chatbot for Smart Communities: Enhancing User Interaction in Educational Institutions," 2024 IEEE 6th PhD Colloquium on Emerging Domain Innovation and Technology for Society (PhD EDITS), Bangalore, India, 2024, pp. 1-2, doi: 10.1109/PhDEDITS64207.2024.10838692. keywords: {Technological innovation;Smart cities;Semantics;Knowledge based systems;Education;Machine learning;Syntactics;Chatbots;Vectors;Time factors;Artificial Intelligence;Machine Learning;Chatbot;Natural Language Processing;User Interaction;Educational Institutions},</a:t>
            </a:r>
            <a:endParaRPr lang="en-US" altLang="en-GB" dirty="0">
              <a:latin typeface="Times New Roman" panose="02020603050405020304" pitchFamily="18" charset="0"/>
              <a:cs typeface="Times New Roman" panose="02020603050405020304" pitchFamily="18" charset="0"/>
            </a:endParaRPr>
          </a:p>
          <a:p>
            <a:endParaRPr lang="en-US" altLang="en-GB" dirty="0">
              <a:latin typeface="Times New Roman" panose="02020603050405020304" pitchFamily="18" charset="0"/>
              <a:cs typeface="Times New Roman" panose="02020603050405020304" pitchFamily="18" charset="0"/>
            </a:endParaRPr>
          </a:p>
          <a:p>
            <a:r>
              <a:rPr lang="en-US" altLang="en-GB" dirty="0">
                <a:latin typeface="Times New Roman" panose="02020603050405020304" pitchFamily="18" charset="0"/>
                <a:cs typeface="Times New Roman" panose="02020603050405020304" pitchFamily="18" charset="0"/>
              </a:rPr>
              <a:t>S. Meshram, N. Naik, M. VR, T. More and S. Kharche, "College Enquiry Chatbot using Rasa Framework," 2021 Asian Conference on Innovation in Technology (ASIANCON), PUNE, India, 2021, pp. 1-8, doi: 10.1109/ASIANCON51346.2021.9544650. keywords: {Technological innovation;Recurrent neural networks;Speech recognition;Maintenance engineering;Chatbots;Probabilistic logic;Internet of Things;Chatbot;AI;Rasa;Rasa NLU;Rasa Core;NLP;Web Application;Enquiry Chatbot},</a:t>
            </a:r>
            <a:endParaRPr lang="en-US" altLang="en-GB" dirty="0">
              <a:latin typeface="Times New Roman" panose="02020603050405020304" pitchFamily="18" charset="0"/>
              <a:cs typeface="Times New Roman" panose="02020603050405020304" pitchFamily="18" charset="0"/>
            </a:endParaRPr>
          </a:p>
          <a:p>
            <a:endParaRPr lang="en-US" altLang="en-GB" dirty="0">
              <a:latin typeface="Times New Roman" panose="02020603050405020304" pitchFamily="18" charset="0"/>
              <a:cs typeface="Times New Roman" panose="02020603050405020304" pitchFamily="18" charset="0"/>
            </a:endParaRPr>
          </a:p>
          <a:p>
            <a:r>
              <a:rPr lang="en-US" altLang="en-GB" dirty="0">
                <a:latin typeface="Times New Roman" panose="02020603050405020304" pitchFamily="18" charset="0"/>
                <a:cs typeface="Times New Roman" panose="02020603050405020304" pitchFamily="18" charset="0"/>
              </a:rPr>
              <a:t>A. Huddar, C. Bysani, C. Suchak, U. D. Kolekar and K. Upadhyaya, "Dexter the College FAQ Chatbot," 2020 International Conference on Convergence to Digital World - Quo Vadis (ICCDW), Mumbai, India, 2020, pp. 1-5, doi: 10.1109/ICCDW45521.2020.9318648. keywords: {Chatbot;Databases;Artificial intelligence;Machine learning;Knowledge based systems;Information technology;Open source software;RASA;machine learning;LSTM;RNN},</a:t>
            </a:r>
            <a:endParaRPr lang="en-US" altLang="en-GB" dirty="0">
              <a:latin typeface="Times New Roman" panose="02020603050405020304" pitchFamily="18" charset="0"/>
              <a:cs typeface="Times New Roman" panose="02020603050405020304" pitchFamily="18" charset="0"/>
            </a:endParaRPr>
          </a:p>
          <a:p>
            <a:endParaRPr lang="en-US" altLang="en-GB" dirty="0">
              <a:latin typeface="Times New Roman" panose="02020603050405020304" pitchFamily="18" charset="0"/>
              <a:cs typeface="Times New Roman" panose="02020603050405020304" pitchFamily="18" charset="0"/>
            </a:endParaRPr>
          </a:p>
          <a:p>
            <a:r>
              <a:rPr lang="en-US" altLang="en-GB" dirty="0">
                <a:latin typeface="Times New Roman" panose="02020603050405020304" pitchFamily="18" charset="0"/>
                <a:cs typeface="Times New Roman" panose="02020603050405020304" pitchFamily="18" charset="0"/>
              </a:rPr>
              <a:t>J. S, J. S, S. M and G. R. Hemalakshmi, "College Enquiry Chatbot," 2023 2nd International Conference on Vision Towards Emerging Trends in Communication and Networking Technologies (ViTECoN), Vellore, India, 2023, pp. 1-4, doi: 10.1109/ViTECoN58111.2023.10156978. keywords: {Training;Productivity;Industries;Databases;Chatbots;Market research;Manufacturing;chatbot;NLP;enquiry;query;artificial intelligence;college;chatterbot;student},</a:t>
            </a:r>
            <a:endParaRPr lang="en-US" altLang="en-GB" dirty="0">
              <a:latin typeface="Times New Roman" panose="02020603050405020304" pitchFamily="18" charset="0"/>
              <a:cs typeface="Times New Roman" panose="02020603050405020304" pitchFamily="18" charset="0"/>
            </a:endParaRPr>
          </a:p>
          <a:p>
            <a:endParaRPr lang="en-US" altLang="en-GB" dirty="0">
              <a:latin typeface="Times New Roman" panose="02020603050405020304" pitchFamily="18" charset="0"/>
              <a:cs typeface="Times New Roman" panose="02020603050405020304" pitchFamily="18" charset="0"/>
            </a:endParaRPr>
          </a:p>
          <a:p>
            <a:endParaRPr lang="en-US" altLang="en-GB"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a:t>Mini Project Topic Approval </a:t>
            </a:r>
            <a:endParaRPr lang="en-IN"/>
          </a:p>
        </p:txBody>
      </p:sp>
      <p:sp>
        <p:nvSpPr>
          <p:cNvPr id="5" name="Slide Number Placeholder 4"/>
          <p:cNvSpPr>
            <a:spLocks noGrp="1"/>
          </p:cNvSpPr>
          <p:nvPr>
            <p:ph type="sldNum" sz="quarter" idx="12"/>
          </p:nvPr>
        </p:nvSpPr>
        <p:spPr/>
        <p:txBody>
          <a:bodyPr/>
          <a:lstStyle/>
          <a:p>
            <a:fld id="{54A0433F-D463-4C6D-93BB-5B095B314A64}" type="slidenum">
              <a:rPr lang="en-IN" smtClean="0"/>
            </a:fld>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8570</Words>
  <Application>WPS Presentation</Application>
  <PresentationFormat>Widescreen</PresentationFormat>
  <Paragraphs>225</Paragraphs>
  <Slides>12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12</vt:i4>
      </vt:variant>
    </vt:vector>
  </HeadingPairs>
  <TitlesOfParts>
    <vt:vector size="22" baseType="lpstr">
      <vt:lpstr>Arial</vt:lpstr>
      <vt:lpstr>SimSun</vt:lpstr>
      <vt:lpstr>Wingdings</vt:lpstr>
      <vt:lpstr>Times New Roman</vt:lpstr>
      <vt:lpstr>Calibri</vt:lpstr>
      <vt:lpstr>Calibri Light</vt:lpstr>
      <vt:lpstr>Microsoft YaHei</vt:lpstr>
      <vt:lpstr>Arial Unicode MS</vt:lpstr>
      <vt:lpstr>Wingdings</vt:lpstr>
      <vt:lpstr>Office Theme</vt:lpstr>
      <vt:lpstr>	 AI-Powered Dynamic Multilingual Chatbot for College  Website Assistance </vt:lpstr>
      <vt:lpstr>Presentation Outline:</vt:lpstr>
      <vt:lpstr>Introduction:</vt:lpstr>
      <vt:lpstr>Literature Survey:</vt:lpstr>
      <vt:lpstr>Literature Survey:</vt:lpstr>
      <vt:lpstr>Limitations of Existing Systems</vt:lpstr>
      <vt:lpstr>Problem Statement</vt:lpstr>
      <vt:lpstr>PowerPoint 演示文稿</vt:lpstr>
      <vt:lpstr>Experimental Setup</vt:lpstr>
      <vt:lpstr>Implementation</vt:lpstr>
      <vt:lpstr>Conclusion</vt:lpstr>
      <vt:lpstr>Research and 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apsitms 70</dc:creator>
  <cp:lastModifiedBy>Soham Waradkar</cp:lastModifiedBy>
  <cp:revision>21</cp:revision>
  <dcterms:created xsi:type="dcterms:W3CDTF">2026-01-06T09:40:00Z</dcterms:created>
  <dcterms:modified xsi:type="dcterms:W3CDTF">2026-04-17T09:56:34Z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0AE9E12BB99E4642A350695E80C16269_13</vt:lpwstr>
  </property>
  <property fmtid="{D5CDD505-2E9C-101B-9397-08002B2CF9AE}" pid="3" name="KSOProductBuildVer">
    <vt:lpwstr>1033-12.1.0.25242</vt:lpwstr>
  </property>
</Properties>
</file>